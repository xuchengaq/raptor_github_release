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6adf2868345a6" /><Relationship Type="http://schemas.openxmlformats.org/officeDocument/2006/relationships/extended-properties" Target="/docProps/app.xml" Id="Rec08bcc0e6554b19" /><Relationship Type="http://schemas.openxmlformats.org/officeDocument/2006/relationships/officeDocument" Target="/ppt/presentation.xml" Id="Rdc4b10ca0a7547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bbd44fb6734c94"/>
  </p:sldMasterIdLst>
  <p:notesMasterIdLst>
    <p:notesMasterId xmlns:r="http://schemas.openxmlformats.org/officeDocument/2006/relationships" r:id="Ra9c6ac59f5c14e17"/>
  </p:notesMasterIdLst>
  <p:sldIdLst>
    <p:sldId xmlns:r="http://schemas.openxmlformats.org/officeDocument/2006/relationships" id="256" r:id="R933de02dc1da46a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063044a965451d" /><Relationship Type="http://schemas.openxmlformats.org/officeDocument/2006/relationships/slideMaster" Target="/ppt/slideMasters/slideMaster1.xml" Id="R1dbbd44fb6734c94" /><Relationship Type="http://schemas.openxmlformats.org/officeDocument/2006/relationships/notesMaster" Target="/ppt/notesMasters/notesMaster1.xml" Id="Ra9c6ac59f5c14e17" /><Relationship Type="http://schemas.openxmlformats.org/officeDocument/2006/relationships/presProps" Target="/ppt/presProps.xml" Id="R5976fb88503b4be7" /><Relationship Type="http://schemas.openxmlformats.org/officeDocument/2006/relationships/viewProps" Target="/ppt/viewProps.xml" Id="R6370723089724249" /><Relationship Type="http://schemas.openxmlformats.org/officeDocument/2006/relationships/tableStyles" Target="/ppt/tableStyles.xml" Id="R520e1db96eff4c98" /><Relationship Type="http://schemas.openxmlformats.org/officeDocument/2006/relationships/slide" Target="/ppt/slides/slide1.xml" Id="R933de02dc1da46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3ae39376f94b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23b044f5f7439d" /><Relationship Type="http://schemas.openxmlformats.org/officeDocument/2006/relationships/notesMaster" Target="/ppt/notesMasters/notesMaster1.xml" Id="Raec6da05f81348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C:/Users/cheng/OneDrive/Desktop/cx/RAPTOR/raptor/model.py</a:t>
            </a:r>
          </a:p>
          <a:p xmlns:a="http://schemas.openxmlformats.org/drawingml/2006/main">
            <a:r>
              <a:t>- C:/Users/cheng/OneDrive/Desktop/cx/RAPTOR/transolver_tiny/model.py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8e7befb8b4e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8f016d16bf4ac0" /><Relationship Type="http://schemas.openxmlformats.org/officeDocument/2006/relationships/slideLayout" Target="/ppt/slideLayouts/slideLayout1.xml" Id="Re62ffbb446f049a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2ffbb446f049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a034edcae4b27" /><Relationship Type="http://schemas.openxmlformats.org/officeDocument/2006/relationships/notesSlide" Target="/ppt/notesSlides/notesSlide1.xml" Id="Rc735433093544a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panel-a">
            <a:extLst xmlns:a="http://schemas.openxmlformats.org/drawingml/2006/main">
              <a:ext uri="{FF2B5EF4-FFF2-40B4-BE49-F238E27FC236}">
                <a16:creationId xmlns:a16="http://schemas.microsoft.com/office/drawing/2014/main" id="{D8AED19B-E840-44D5-8356-4282DFE5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33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23A73"/>
                </a:solidFill>
              </a:defRPr>
            </a:pPr>
            <a:r>
              <a:rPr sz="2250" b="1">
                <a:solidFill>
                  <a:srgbClr val="123A73"/>
                </a:solidFill>
              </a:rPr>
              <a:t>(a)  RAPTOR Overall Architecture</a:t>
            </a:r>
            <a:endParaRPr sz="2250" b="1">
              <a:solidFill>
                <a:srgbClr val="123A73"/>
              </a:solidFill>
            </a:endParaRPr>
          </a:p>
        </p:txBody>
      </p:sp>
      <p:sp>
        <p:nvSpPr>
          <p:cNvPr id="2" name="panel-b">
            <a:extLst xmlns:a="http://schemas.openxmlformats.org/drawingml/2006/main">
              <a:ext uri="{FF2B5EF4-FFF2-40B4-BE49-F238E27FC236}">
                <a16:creationId xmlns:a16="http://schemas.microsoft.com/office/drawing/2014/main" id="{857FB3EE-257C-423B-AE56-A43CD76E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95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23A73"/>
                </a:solidFill>
              </a:defRPr>
            </a:pPr>
            <a:r>
              <a:rPr sz="2100" b="1">
                <a:solidFill>
                  <a:srgbClr val="123A73"/>
                </a:solidFill>
              </a:rPr>
              <a:t>(b)  Physics-Attention Backbone</a:t>
            </a:r>
            <a:endParaRPr sz="2100" b="1">
              <a:solidFill>
                <a:srgbClr val="123A73"/>
              </a:solidFill>
            </a:endParaRPr>
          </a:p>
        </p:txBody>
      </p:sp>
      <p:sp>
        <p:nvSpPr>
          <p:cNvPr id="3" name="panel-c">
            <a:extLst xmlns:a="http://schemas.openxmlformats.org/drawingml/2006/main">
              <a:ext uri="{FF2B5EF4-FFF2-40B4-BE49-F238E27FC236}">
                <a16:creationId xmlns:a16="http://schemas.microsoft.com/office/drawing/2014/main" id="{3202A121-592F-4617-BF6F-3B1C6B44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095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8C86"/>
                </a:solidFill>
              </a:defRPr>
            </a:pPr>
            <a:r>
              <a:rPr sz="2100" b="1">
                <a:solidFill>
                  <a:srgbClr val="008C86"/>
                </a:solidFill>
              </a:rPr>
              <a:t>(c)  Zero-Initialized Local Adapter</a:t>
            </a:r>
            <a:endParaRPr sz="2100" b="1">
              <a:solidFill>
                <a:srgbClr val="008C86"/>
              </a:solidFill>
            </a:endParaRPr>
          </a:p>
        </p:txBody>
      </p:sp>
      <p:sp>
        <p:nvSpPr>
          <p:cNvPr id="4" name="rule-414">
            <a:extLst xmlns:a="http://schemas.openxmlformats.org/drawingml/2006/main">
              <a:ext uri="{FF2B5EF4-FFF2-40B4-BE49-F238E27FC236}">
                <a16:creationId xmlns:a16="http://schemas.microsoft.com/office/drawing/2014/main" id="{4B474044-95D3-42DF-A696-6509141C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3943350"/>
            <a:ext cx="148971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8A8"/>
          </a:solidFill>
          <a:ln xmlns:a="http://schemas.openxmlformats.org/drawingml/2006/main" w="0">
            <a:solidFill>
              <a:srgbClr val="8C98A8"/>
            </a:solidFill>
            <a:prstDash val="solid"/>
          </a:ln>
        </p:spPr>
      </p:sp>
      <p:sp>
        <p:nvSpPr>
          <p:cNvPr id="5" name="vertical-rule">
            <a:extLst xmlns:a="http://schemas.openxmlformats.org/drawingml/2006/main">
              <a:ext uri="{FF2B5EF4-FFF2-40B4-BE49-F238E27FC236}">
                <a16:creationId xmlns:a16="http://schemas.microsoft.com/office/drawing/2014/main" id="{AC696694-0767-4799-823D-80BC4385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29075"/>
            <a:ext cx="14288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8A8"/>
          </a:solidFill>
          <a:ln xmlns:a="http://schemas.openxmlformats.org/drawingml/2006/main" w="0">
            <a:solidFill>
              <a:srgbClr val="8C98A8"/>
            </a:solidFill>
            <a:prstDash val="solid"/>
          </a:ln>
        </p:spPr>
      </p:sp>
      <p:sp>
        <p:nvSpPr>
          <p:cNvPr id="6" name="a-input">
            <a:extLst xmlns:a="http://schemas.openxmlformats.org/drawingml/2006/main">
              <a:ext uri="{FF2B5EF4-FFF2-40B4-BE49-F238E27FC236}">
                <a16:creationId xmlns:a16="http://schemas.microsoft.com/office/drawing/2014/main" id="{9B91AF68-9EB0-47B4-B8D5-97B2B184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76300"/>
            <a:ext cx="21907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8C98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AirfRANS Input</a:t>
            </a:r>
            <a:endParaRPr sz="1500" b="0">
              <a:solidFill>
                <a:srgbClr val="172033"/>
              </a:solidFill>
            </a:endParaRPr>
          </a:p>
          <a:p xmlns:a="http://schemas.openxmlformats.org/drawingml/2006/main">
            <a:pPr algn="ctr"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4096 nodes × 7 features</a:t>
            </a:r>
            <a:endParaRPr sz="1500" b="0">
              <a:solidFill>
                <a:srgbClr val="172033"/>
              </a:solidFill>
            </a:endParaRPr>
          </a:p>
          <a:p xmlns:a="http://schemas.openxmlformats.org/drawingml/2006/main">
            <a:endParaRPr sz="1500"/>
          </a:p>
          <a:p xmlns:a="http://schemas.openxmlformats.org/drawingml/2006/main">
            <a:pPr algn="ctr"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•  •  airfoil point cloud  •  •  •</a:t>
            </a:r>
            <a:endParaRPr sz="1500" b="0">
              <a:solidFill>
                <a:srgbClr val="172033"/>
              </a:solidFill>
            </a:endParaRPr>
          </a:p>
          <a:p xmlns:a="http://schemas.openxmlformats.org/drawingml/2006/main">
            <a:endParaRPr sz="1500"/>
          </a:p>
          <a:p xmlns:a="http://schemas.openxmlformats.org/drawingml/2006/main">
            <a:pPr algn="ctr">
              <a:buNone/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N = 4096</a:t>
            </a:r>
            <a:endParaRPr sz="1500" b="0">
              <a:solidFill>
                <a:srgbClr val="172033"/>
              </a:solidFill>
            </a:endParaRPr>
          </a:p>
        </p:txBody>
      </p:sp>
      <p:sp>
        <p:nvSpPr>
          <p:cNvPr id="7" name="a-input-proj">
            <a:extLst xmlns:a="http://schemas.openxmlformats.org/drawingml/2006/main">
              <a:ext uri="{FF2B5EF4-FFF2-40B4-BE49-F238E27FC236}">
                <a16:creationId xmlns:a16="http://schemas.microsoft.com/office/drawing/2014/main" id="{3C31EBAB-BE0B-4BAC-84F5-A44691AE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285875"/>
            <a:ext cx="1428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14288">
            <a:solidFill>
              <a:srgbClr val="123A7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3A73"/>
                </a:solidFill>
              </a:defRPr>
            </a:pPr>
            <a:r>
              <a:rPr sz="1575" b="1">
                <a:solidFill>
                  <a:srgbClr val="123A73"/>
                </a:solidFill>
              </a:rPr>
              <a:t>Input Projection</a:t>
            </a:r>
            <a:endParaRPr sz="1575" b="1">
              <a:solidFill>
                <a:srgbClr val="123A73"/>
              </a:solidFill>
            </a:endParaRPr>
          </a:p>
          <a:p xmlns:a="http://schemas.openxmlformats.org/drawingml/2006/main">
            <a:pPr algn="ctr">
              <a:buNone/>
              <a:defRPr sz="1575" b="1">
                <a:solidFill>
                  <a:srgbClr val="123A73"/>
                </a:solidFill>
              </a:defRPr>
            </a:pPr>
            <a:r>
              <a:rPr sz="1575" b="1">
                <a:solidFill>
                  <a:srgbClr val="123A73"/>
                </a:solidFill>
              </a:rPr>
              <a:t>7 → 64</a:t>
            </a:r>
            <a:endParaRPr sz="1575" b="1">
              <a:solidFill>
                <a:srgbClr val="123A73"/>
              </a:solidFill>
            </a:endParaRPr>
          </a:p>
        </p:txBody>
      </p:sp>
      <p:sp>
        <p:nvSpPr>
          <p:cNvPr id="8" name="a-block-1">
            <a:extLst xmlns:a="http://schemas.openxmlformats.org/drawingml/2006/main">
              <a:ext uri="{FF2B5EF4-FFF2-40B4-BE49-F238E27FC236}">
                <a16:creationId xmlns:a16="http://schemas.microsoft.com/office/drawing/2014/main" id="{57170ABE-D342-44DF-A46E-EEC312A1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42950"/>
            <a:ext cx="28575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8C98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9" name="a-block-title-1">
            <a:extLst xmlns:a="http://schemas.openxmlformats.org/drawingml/2006/main">
              <a:ext uri="{FF2B5EF4-FFF2-40B4-BE49-F238E27FC236}">
                <a16:creationId xmlns:a16="http://schemas.microsoft.com/office/drawing/2014/main" id="{FDE2AD4F-FDF4-4AA3-A694-7DE1EF76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800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RAPTOR Block</a:t>
            </a:r>
            <a:endParaRPr sz="1725" b="1">
              <a:solidFill>
                <a:srgbClr val="172033"/>
              </a:solidFill>
            </a:endParaRPr>
          </a:p>
        </p:txBody>
      </p:sp>
      <p:sp>
        <p:nvSpPr>
          <p:cNvPr id="10" name="a-physics-1">
            <a:extLst xmlns:a="http://schemas.openxmlformats.org/drawingml/2006/main">
              <a:ext uri="{FF2B5EF4-FFF2-40B4-BE49-F238E27FC236}">
                <a16:creationId xmlns:a16="http://schemas.microsoft.com/office/drawing/2014/main" id="{CE030F5C-C903-40B6-AAE5-903DE75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382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A73"/>
          </a:solidFill>
          <a:ln xmlns:a="http://schemas.openxmlformats.org/drawingml/2006/main" w="14288">
            <a:solidFill>
              <a:srgbClr val="123A7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Physics-Attention</a:t>
            </a:r>
            <a:endParaRPr sz="1425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Backbone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1" name="a-local-1">
            <a:extLst xmlns:a="http://schemas.openxmlformats.org/drawingml/2006/main">
              <a:ext uri="{FF2B5EF4-FFF2-40B4-BE49-F238E27FC236}">
                <a16:creationId xmlns:a16="http://schemas.microsoft.com/office/drawing/2014/main" id="{F2C4B882-160B-4529-8A05-E6872BB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8C86"/>
          </a:solidFill>
          <a:ln xmlns:a="http://schemas.openxmlformats.org/drawingml/2006/main" w="14288">
            <a:solidFill>
              <a:srgbClr val="008C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Local Residual Adapter</a:t>
            </a:r>
            <a:endParaRPr sz="135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(12-NN)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a-add-1">
            <a:extLst xmlns:a="http://schemas.openxmlformats.org/drawingml/2006/main">
              <a:ext uri="{FF2B5EF4-FFF2-40B4-BE49-F238E27FC236}">
                <a16:creationId xmlns:a16="http://schemas.microsoft.com/office/drawing/2014/main" id="{1C472971-2E1F-4957-95F2-AD6C6FB5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85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20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+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13" name="a-dots">
            <a:extLst xmlns:a="http://schemas.openxmlformats.org/drawingml/2006/main">
              <a:ext uri="{FF2B5EF4-FFF2-40B4-BE49-F238E27FC236}">
                <a16:creationId xmlns:a16="http://schemas.microsoft.com/office/drawing/2014/main" id="{AA534DF1-7279-46CA-A123-3E04ABE3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5E6878"/>
                </a:solidFill>
              </a:defRPr>
            </a:pPr>
            <a:r>
              <a:rPr sz="2850" b="1">
                <a:solidFill>
                  <a:srgbClr val="5E6878"/>
                </a:solidFill>
              </a:rPr>
              <a:t>···</a:t>
            </a:r>
            <a:endParaRPr sz="2850" b="1">
              <a:solidFill>
                <a:srgbClr val="5E6878"/>
              </a:solidFill>
            </a:endParaRPr>
          </a:p>
        </p:txBody>
      </p:sp>
      <p:sp>
        <p:nvSpPr>
          <p:cNvPr id="14" name="a-block-4">
            <a:extLst xmlns:a="http://schemas.openxmlformats.org/drawingml/2006/main">
              <a:ext uri="{FF2B5EF4-FFF2-40B4-BE49-F238E27FC236}">
                <a16:creationId xmlns:a16="http://schemas.microsoft.com/office/drawing/2014/main" id="{AEC80F6D-11C7-4002-8A62-F7F637C0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42950"/>
            <a:ext cx="28575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8C98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15" name="a-block-title-4">
            <a:extLst xmlns:a="http://schemas.openxmlformats.org/drawingml/2006/main">
              <a:ext uri="{FF2B5EF4-FFF2-40B4-BE49-F238E27FC236}">
                <a16:creationId xmlns:a16="http://schemas.microsoft.com/office/drawing/2014/main" id="{B347E798-6CB7-4B62-9083-4589524F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8001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RAPTOR Block × 4</a:t>
            </a:r>
            <a:endParaRPr sz="1725" b="1">
              <a:solidFill>
                <a:srgbClr val="172033"/>
              </a:solidFill>
            </a:endParaRPr>
          </a:p>
        </p:txBody>
      </p:sp>
      <p:sp>
        <p:nvSpPr>
          <p:cNvPr id="16" name="a-physics-4">
            <a:extLst xmlns:a="http://schemas.openxmlformats.org/drawingml/2006/main">
              <a:ext uri="{FF2B5EF4-FFF2-40B4-BE49-F238E27FC236}">
                <a16:creationId xmlns:a16="http://schemas.microsoft.com/office/drawing/2014/main" id="{A053690E-30C1-4A5C-97FB-1C2DF6D3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382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23A73"/>
          </a:solidFill>
          <a:ln xmlns:a="http://schemas.openxmlformats.org/drawingml/2006/main" w="14288">
            <a:solidFill>
              <a:srgbClr val="123A7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Physics-Attention</a:t>
            </a:r>
            <a:endParaRPr sz="1425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Backbone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7" name="a-local-4">
            <a:extLst xmlns:a="http://schemas.openxmlformats.org/drawingml/2006/main">
              <a:ext uri="{FF2B5EF4-FFF2-40B4-BE49-F238E27FC236}">
                <a16:creationId xmlns:a16="http://schemas.microsoft.com/office/drawing/2014/main" id="{2F2F3B98-7ACB-45E3-8B82-26EC84D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8C86"/>
          </a:solidFill>
          <a:ln xmlns:a="http://schemas.openxmlformats.org/drawingml/2006/main" w="14288">
            <a:solidFill>
              <a:srgbClr val="008C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Local Residual Adapter</a:t>
            </a:r>
            <a:endParaRPr sz="135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(12-NN)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8" name="a-add-4">
            <a:extLst xmlns:a="http://schemas.openxmlformats.org/drawingml/2006/main">
              <a:ext uri="{FF2B5EF4-FFF2-40B4-BE49-F238E27FC236}">
                <a16:creationId xmlns:a16="http://schemas.microsoft.com/office/drawing/2014/main" id="{D6036A09-1651-41F1-8455-3962A616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1685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20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+</a:t>
            </a:r>
            <a:endParaRPr sz="1650" b="1">
              <a:solidFill>
                <a:srgbClr val="172033"/>
              </a:solidFill>
            </a:endParaRPr>
          </a:p>
        </p:txBody>
      </p:sp>
      <p:sp>
        <p:nvSpPr>
          <p:cNvPr id="19" name="a-output">
            <a:extLst xmlns:a="http://schemas.openxmlformats.org/drawingml/2006/main">
              <a:ext uri="{FF2B5EF4-FFF2-40B4-BE49-F238E27FC236}">
                <a16:creationId xmlns:a16="http://schemas.microsoft.com/office/drawing/2014/main" id="{F82DD2C8-389A-4D3A-A6D3-AB091E09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1381125"/>
            <a:ext cx="114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3EEFB"/>
          </a:solidFill>
          <a:ln xmlns:a="http://schemas.openxmlformats.org/drawingml/2006/main" w="14288">
            <a:solidFill>
              <a:srgbClr val="7551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Output</a:t>
            </a:r>
            <a:endParaRPr sz="1575" b="1">
              <a:solidFill>
                <a:srgbClr val="172033"/>
              </a:solidFill>
            </a:endParaRPr>
          </a:p>
          <a:p xmlns:a="http://schemas.openxmlformats.org/drawingml/2006/main">
            <a:pPr algn="ctr">
              <a:buNone/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Head</a:t>
            </a:r>
            <a:endParaRPr sz="1575" b="1">
              <a:solidFill>
                <a:srgbClr val="172033"/>
              </a:solidFill>
            </a:endParaRPr>
          </a:p>
        </p:txBody>
      </p:sp>
      <p:sp>
        <p:nvSpPr>
          <p:cNvPr id="20" name="a-outputs">
            <a:extLst xmlns:a="http://schemas.openxmlformats.org/drawingml/2006/main">
              <a:ext uri="{FF2B5EF4-FFF2-40B4-BE49-F238E27FC236}">
                <a16:creationId xmlns:a16="http://schemas.microsoft.com/office/drawing/2014/main" id="{13E192D6-58B3-4681-9C83-3D0CE840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762000"/>
            <a:ext cx="1285875" cy="2190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BF9FE"/>
          </a:solidFill>
          <a:ln xmlns:a="http://schemas.openxmlformats.org/drawingml/2006/main" w="14288">
            <a:solidFill>
              <a:srgbClr val="7551B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uₓ   x-velocity</a:t>
            </a:r>
            <a:endParaRPr sz="1350" b="0">
              <a:solidFill>
                <a:srgbClr val="172033"/>
              </a:solidFill>
            </a:endParaRPr>
          </a:p>
          <a:p xmlns:a="http://schemas.openxmlformats.org/drawingml/2006/main">
            <a:endParaRPr sz="1350"/>
          </a:p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uᵧ   y-velocity</a:t>
            </a:r>
            <a:endParaRPr sz="1350" b="0">
              <a:solidFill>
                <a:srgbClr val="172033"/>
              </a:solidFill>
            </a:endParaRPr>
          </a:p>
          <a:p xmlns:a="http://schemas.openxmlformats.org/drawingml/2006/main">
            <a:endParaRPr sz="1350"/>
          </a:p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p/ρ  pressure / density</a:t>
            </a:r>
            <a:endParaRPr sz="1350" b="0">
              <a:solidFill>
                <a:srgbClr val="172033"/>
              </a:solidFill>
            </a:endParaRPr>
          </a:p>
          <a:p xmlns:a="http://schemas.openxmlformats.org/drawingml/2006/main">
            <a:endParaRPr sz="1350"/>
          </a:p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νₜ   turbulent</a:t>
            </a:r>
            <a:endParaRPr sz="1350" b="0">
              <a:solidFill>
                <a:srgbClr val="172033"/>
              </a:solidFill>
            </a:endParaRPr>
          </a:p>
          <a:p xmlns:a="http://schemas.openxmlformats.org/drawingml/2006/main">
            <a:pPr algn="ctr">
              <a:buNone/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     viscosity</a:t>
            </a:r>
            <a:endParaRPr sz="1350" b="0">
              <a:solidFill>
                <a:srgbClr val="172033"/>
              </a:solidFill>
            </a:endParaRPr>
          </a:p>
        </p:txBody>
      </p:sp>
      <p:cxnSp>
        <p:nvCxnSpPr>
          <p:cNvPr id="155" name="直接箭头连接符 88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95550" y="1757363"/>
            <a:ext cx="4572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56" name="直接箭头连接符 89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4381500" y="1533525"/>
            <a:ext cx="85725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57" name="直接箭头连接符 90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381500" y="1762125"/>
            <a:ext cx="8572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58" name="直接箭头连接符 91"/>
          <p:cNvCxnSpPr>
            <a:stCxn xmlns:a="http://schemas.openxmlformats.org/drawingml/2006/main" id="10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7239000" y="1533525"/>
            <a:ext cx="17145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59" name="直接箭头连接符 92"/>
          <p:cNvCxnSpPr>
            <a:stCxn xmlns:a="http://schemas.openxmlformats.org/drawingml/2006/main" id="11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7239000" y="1847850"/>
            <a:ext cx="17145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60" name="直接箭头连接符 93"/>
          <p:cNvCxnSpPr>
            <a:stCxn xmlns:a="http://schemas.openxmlformats.org/drawingml/2006/main" id="12" idx="6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734300" y="1847850"/>
            <a:ext cx="10763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61" name="直接箭头连接符 94"/>
          <p:cNvCxnSpPr>
            <a:stCxn xmlns:a="http://schemas.openxmlformats.org/drawingml/2006/main" id="16" idx="3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11144250" y="1533525"/>
            <a:ext cx="17145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62" name="直接箭头连接符 95"/>
          <p:cNvCxnSpPr>
            <a:stCxn xmlns:a="http://schemas.openxmlformats.org/drawingml/2006/main" id="17" idx="3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V="1">
            <a:off x="11144250" y="1847850"/>
            <a:ext cx="17145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63" name="直接箭头连接符 96"/>
          <p:cNvCxnSpPr>
            <a:stCxn xmlns:a="http://schemas.openxmlformats.org/drawingml/2006/main" id="18" idx="6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11639550" y="1819275"/>
            <a:ext cx="50482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64" name="直接箭头连接符 97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3287375" y="1819275"/>
            <a:ext cx="352425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sp>
        <p:nvSpPr>
          <p:cNvPr id="32" name="b-nodes">
            <a:extLst xmlns:a="http://schemas.openxmlformats.org/drawingml/2006/main">
              <a:ext uri="{FF2B5EF4-FFF2-40B4-BE49-F238E27FC236}">
                <a16:creationId xmlns:a16="http://schemas.microsoft.com/office/drawing/2014/main" id="{DFF235F9-F8CD-409E-A403-9C31750F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33950"/>
            <a:ext cx="1095375" cy="11620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8C98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Node</a:t>
            </a:r>
            <a:endParaRPr sz="1350" b="1">
              <a:solidFill>
                <a:srgbClr val="172033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features</a:t>
            </a:r>
            <a:endParaRPr sz="1350" b="1">
              <a:solidFill>
                <a:srgbClr val="172033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 × 64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33" name="b-assign">
            <a:extLst xmlns:a="http://schemas.openxmlformats.org/drawingml/2006/main">
              <a:ext uri="{FF2B5EF4-FFF2-40B4-BE49-F238E27FC236}">
                <a16:creationId xmlns:a16="http://schemas.microsoft.com/office/drawing/2014/main" id="{18461F13-07D2-4FB4-8D11-C373CD72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14288">
            <a:solidFill>
              <a:srgbClr val="123A7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Soft</a:t>
            </a:r>
            <a:endParaRPr sz="1350" b="1">
              <a:solidFill>
                <a:srgbClr val="123A73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Point-to-Slice</a:t>
            </a:r>
            <a:endParaRPr sz="1350" b="1">
              <a:solidFill>
                <a:srgbClr val="123A73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Assignment</a:t>
            </a:r>
            <a:endParaRPr sz="1350" b="1">
              <a:solidFill>
                <a:srgbClr val="123A73"/>
              </a:solidFill>
            </a:endParaRPr>
          </a:p>
        </p:txBody>
      </p:sp>
      <p:sp>
        <p:nvSpPr>
          <p:cNvPr id="34" name="b-tokens">
            <a:extLst xmlns:a="http://schemas.openxmlformats.org/drawingml/2006/main">
              <a:ext uri="{FF2B5EF4-FFF2-40B4-BE49-F238E27FC236}">
                <a16:creationId xmlns:a16="http://schemas.microsoft.com/office/drawing/2014/main" id="{1A19BD11-B393-4101-940F-0ACBBD4F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53000"/>
            <a:ext cx="12858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23A73"/>
          </a:solidFill>
          <a:ln xmlns:a="http://schemas.openxmlformats.org/drawingml/2006/main" w="14288">
            <a:solidFill>
              <a:srgbClr val="123A7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64 Physics</a:t>
            </a:r>
            <a:endParaRPr sz="135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Tokens</a:t>
            </a:r>
            <a:endParaRPr sz="1350" b="1">
              <a:solidFill>
                <a:srgbClr val="FFFFFF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(slices)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5" name="b-attn">
            <a:extLst xmlns:a="http://schemas.openxmlformats.org/drawingml/2006/main">
              <a:ext uri="{FF2B5EF4-FFF2-40B4-BE49-F238E27FC236}">
                <a16:creationId xmlns:a16="http://schemas.microsoft.com/office/drawing/2014/main" id="{0460F28B-C678-4E86-A5EC-E05D599F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1381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14288">
            <a:solidFill>
              <a:srgbClr val="123A7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Multi-Head</a:t>
            </a:r>
            <a:endParaRPr sz="1350" b="1">
              <a:solidFill>
                <a:srgbClr val="123A73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Slice Attention</a:t>
            </a:r>
            <a:endParaRPr sz="1350" b="1">
              <a:solidFill>
                <a:srgbClr val="123A73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4 heads</a:t>
            </a:r>
            <a:endParaRPr sz="1350" b="1">
              <a:solidFill>
                <a:srgbClr val="123A73"/>
              </a:solidFill>
            </a:endParaRPr>
          </a:p>
        </p:txBody>
      </p:sp>
      <p:sp>
        <p:nvSpPr>
          <p:cNvPr id="36" name="b-deslice">
            <a:extLst xmlns:a="http://schemas.openxmlformats.org/drawingml/2006/main">
              <a:ext uri="{FF2B5EF4-FFF2-40B4-BE49-F238E27FC236}">
                <a16:creationId xmlns:a16="http://schemas.microsoft.com/office/drawing/2014/main" id="{0314039E-4666-4354-A52D-29A6F452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0"/>
            <a:ext cx="781050" cy="11239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14288">
            <a:solidFill>
              <a:srgbClr val="123A7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23A73"/>
                </a:solidFill>
              </a:defRPr>
            </a:pPr>
            <a:r>
              <a:rPr sz="1275" b="1">
                <a:solidFill>
                  <a:srgbClr val="123A73"/>
                </a:solidFill>
              </a:rPr>
              <a:t>De-</a:t>
            </a:r>
            <a:endParaRPr sz="1275" b="1">
              <a:solidFill>
                <a:srgbClr val="123A73"/>
              </a:solidFill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123A73"/>
                </a:solidFill>
              </a:defRPr>
            </a:pPr>
            <a:r>
              <a:rPr sz="1275" b="1">
                <a:solidFill>
                  <a:srgbClr val="123A73"/>
                </a:solidFill>
              </a:rPr>
              <a:t>slice</a:t>
            </a:r>
            <a:endParaRPr sz="1275" b="1">
              <a:solidFill>
                <a:srgbClr val="123A73"/>
              </a:solidFill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123A73"/>
                </a:solidFill>
              </a:defRPr>
            </a:pPr>
            <a:r>
              <a:rPr sz="1275" b="1">
                <a:solidFill>
                  <a:srgbClr val="123A73"/>
                </a:solidFill>
              </a:rPr>
              <a:t>to</a:t>
            </a:r>
            <a:endParaRPr sz="1275" b="1">
              <a:solidFill>
                <a:srgbClr val="123A73"/>
              </a:solidFill>
            </a:endParaRPr>
          </a:p>
          <a:p xmlns:a="http://schemas.openxmlformats.org/drawingml/2006/main">
            <a:pPr algn="ctr">
              <a:buNone/>
              <a:defRPr sz="1275" b="1">
                <a:solidFill>
                  <a:srgbClr val="123A73"/>
                </a:solidFill>
              </a:defRPr>
            </a:pPr>
            <a:r>
              <a:rPr sz="1275" b="1">
                <a:solidFill>
                  <a:srgbClr val="123A73"/>
                </a:solidFill>
              </a:rPr>
              <a:t>Nodes</a:t>
            </a:r>
            <a:endParaRPr sz="1275" b="1">
              <a:solidFill>
                <a:srgbClr val="123A73"/>
              </a:solidFill>
            </a:endParaRPr>
          </a:p>
        </p:txBody>
      </p:sp>
      <p:sp>
        <p:nvSpPr>
          <p:cNvPr id="37" name="b-add-1">
            <a:extLst xmlns:a="http://schemas.openxmlformats.org/drawingml/2006/main">
              <a:ext uri="{FF2B5EF4-FFF2-40B4-BE49-F238E27FC236}">
                <a16:creationId xmlns:a16="http://schemas.microsoft.com/office/drawing/2014/main" id="{FE8A40C8-0C4B-42DA-8D4B-300826B5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477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20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+</a:t>
            </a:r>
            <a:endParaRPr sz="1500" b="1">
              <a:solidFill>
                <a:srgbClr val="172033"/>
              </a:solidFill>
            </a:endParaRPr>
          </a:p>
        </p:txBody>
      </p:sp>
      <p:sp>
        <p:nvSpPr>
          <p:cNvPr id="38" name="b-ffn">
            <a:extLst xmlns:a="http://schemas.openxmlformats.org/drawingml/2006/main">
              <a:ext uri="{FF2B5EF4-FFF2-40B4-BE49-F238E27FC236}">
                <a16:creationId xmlns:a16="http://schemas.microsoft.com/office/drawing/2014/main" id="{5B5EE121-FD9F-46F0-9EA5-3F8E14C0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72250"/>
            <a:ext cx="12382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23A7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FFN</a:t>
            </a:r>
            <a:endParaRPr sz="1350" b="1">
              <a:solidFill>
                <a:srgbClr val="123A73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23A73"/>
                </a:solidFill>
              </a:defRPr>
            </a:pPr>
            <a:r>
              <a:rPr sz="1350" b="1">
                <a:solidFill>
                  <a:srgbClr val="123A73"/>
                </a:solidFill>
              </a:rPr>
              <a:t>2-layer MLP</a:t>
            </a:r>
            <a:endParaRPr sz="1350" b="1">
              <a:solidFill>
                <a:srgbClr val="123A73"/>
              </a:solidFill>
            </a:endParaRPr>
          </a:p>
        </p:txBody>
      </p:sp>
      <p:sp>
        <p:nvSpPr>
          <p:cNvPr id="39" name="b-add-2">
            <a:extLst xmlns:a="http://schemas.openxmlformats.org/drawingml/2006/main">
              <a:ext uri="{FF2B5EF4-FFF2-40B4-BE49-F238E27FC236}">
                <a16:creationId xmlns:a16="http://schemas.microsoft.com/office/drawing/2014/main" id="{34BAAE4F-913C-4FF0-9B9D-F192DD73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62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20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+</a:t>
            </a:r>
            <a:endParaRPr sz="1500" b="1">
              <a:solidFill>
                <a:srgbClr val="172033"/>
              </a:solidFill>
            </a:endParaRPr>
          </a:p>
        </p:txBody>
      </p:sp>
      <p:cxnSp>
        <p:nvCxnSpPr>
          <p:cNvPr id="173" name="直接箭头连接符 107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1362075" y="551497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74" name="直接箭头连接符 108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3143250" y="5514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75" name="直接箭头连接符 109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4810125" y="5514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76" name="直接箭头连接符 110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6572250" y="55149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77" name="肘形连接符 111"/>
          <p:cNvCxnSpPr>
            <a:stCxn xmlns:a="http://schemas.openxmlformats.org/drawingml/2006/main" id="36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7343775" y="6076950"/>
            <a:ext cx="142875" cy="400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78" name="直接箭头连接符 112"/>
          <p:cNvCxnSpPr>
            <a:stCxn xmlns:a="http://schemas.openxmlformats.org/drawingml/2006/main" id="37" idx="2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6953250" y="6629400"/>
            <a:ext cx="381000" cy="3000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79" name="直接箭头连接符 113"/>
          <p:cNvCxnSpPr>
            <a:stCxn xmlns:a="http://schemas.openxmlformats.org/drawingml/2006/main" id="38" idx="1"/>
            <a:endCxn xmlns:a="http://schemas.openxmlformats.org/drawingml/2006/main" id="39" idx="6"/>
          </p:cNvCxnSpPr>
          <p:nvPr/>
        </p:nvCxnSpPr>
        <p:spPr>
          <a:xfrm xmlns:a="http://schemas.openxmlformats.org/drawingml/2006/main" flipH="1" flipV="1">
            <a:off x="5400675" y="6915150"/>
            <a:ext cx="314325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80" name="肘形连接符 114"/>
          <p:cNvCxnSpPr>
            <a:stCxn xmlns:a="http://schemas.openxmlformats.org/drawingml/2006/main" id="32" idx="2"/>
            <a:endCxn xmlns:a="http://schemas.openxmlformats.org/drawingml/2006/main" id="37" idx="2"/>
          </p:cNvCxnSpPr>
          <p:nvPr/>
        </p:nvCxnSpPr>
        <p:spPr>
          <a:xfrm xmlns:a="http://schemas.openxmlformats.org/drawingml/2006/main">
            <a:off x="814388" y="6096000"/>
            <a:ext cx="6519863" cy="13049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C98A8"/>
            </a:solidFill>
            <a:prstDash val="solid"/>
            <a:tailEnd type="arrow" w="med" len="med"/>
          </a:ln>
        </p:spPr>
      </p:cxnSp>
      <p:cxnSp>
        <p:nvCxnSpPr>
          <p:cNvPr id="181" name="肘形连接符 115"/>
          <p:cNvCxnSpPr>
            <a:stCxn xmlns:a="http://schemas.openxmlformats.org/drawingml/2006/main" id="37" idx="4"/>
            <a:endCxn xmlns:a="http://schemas.openxmlformats.org/drawingml/2006/main" id="39" idx="4"/>
          </p:cNvCxnSpPr>
          <p:nvPr/>
        </p:nvCxnSpPr>
        <p:spPr>
          <a:xfrm xmlns:a="http://schemas.openxmlformats.org/drawingml/2006/main" flipH="1">
            <a:off x="5248275" y="6781800"/>
            <a:ext cx="2238375" cy="6191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C98A8"/>
            </a:solidFill>
            <a:prstDash val="solid"/>
            <a:tailEnd type="arrow" w="med" len="med"/>
          </a:ln>
        </p:spPr>
      </p:cxnSp>
      <p:sp>
        <p:nvSpPr>
          <p:cNvPr id="49" name="b-score">
            <a:extLst xmlns:a="http://schemas.openxmlformats.org/drawingml/2006/main">
              <a:ext uri="{FF2B5EF4-FFF2-40B4-BE49-F238E27FC236}">
                <a16:creationId xmlns:a16="http://schemas.microsoft.com/office/drawing/2014/main" id="{46EEC97D-E621-47D3-8C3D-1864D66B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9125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Score matrix: N × 64</a:t>
            </a:r>
            <a:endParaRPr sz="1275" b="0">
              <a:solidFill>
                <a:srgbClr val="5E6878"/>
              </a:solidFill>
            </a:endParaRPr>
          </a:p>
        </p:txBody>
      </p:sp>
      <p:sp>
        <p:nvSpPr>
          <p:cNvPr id="50" name="b-attn-matrix">
            <a:extLst xmlns:a="http://schemas.openxmlformats.org/drawingml/2006/main">
              <a:ext uri="{FF2B5EF4-FFF2-40B4-BE49-F238E27FC236}">
                <a16:creationId xmlns:a16="http://schemas.microsoft.com/office/drawing/2014/main" id="{12EA7A48-1FC0-4041-8FF3-F90FCC23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1912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E6878"/>
                </a:solidFill>
              </a:defRPr>
            </a:pPr>
            <a:r>
              <a:rPr sz="1275" b="0">
                <a:solidFill>
                  <a:srgbClr val="5E6878"/>
                </a:solidFill>
              </a:rPr>
              <a:t>Attention matrix: 64 × 64</a:t>
            </a:r>
            <a:endParaRPr sz="1275" b="0">
              <a:solidFill>
                <a:srgbClr val="5E6878"/>
              </a:solidFill>
            </a:endParaRPr>
          </a:p>
        </p:txBody>
      </p:sp>
      <p:sp>
        <p:nvSpPr>
          <p:cNvPr id="52" name="c-xi">
            <a:extLst xmlns:a="http://schemas.openxmlformats.org/drawingml/2006/main">
              <a:ext uri="{FF2B5EF4-FFF2-40B4-BE49-F238E27FC236}">
                <a16:creationId xmlns:a16="http://schemas.microsoft.com/office/drawing/2014/main" id="{96E9A959-640D-4E35-9B5E-2F46B935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53000"/>
            <a:ext cx="1619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7F7F5"/>
          </a:solidFill>
          <a:ln xmlns:a="http://schemas.openxmlformats.org/drawingml/2006/main" w="14288">
            <a:solidFill>
              <a:srgbClr val="008C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8C86"/>
                </a:solidFill>
              </a:defRPr>
            </a:pPr>
            <a:r>
              <a:rPr sz="1425" b="1">
                <a:solidFill>
                  <a:srgbClr val="008C86"/>
                </a:solidFill>
              </a:rPr>
              <a:t>Node feature</a:t>
            </a:r>
            <a:endParaRPr sz="1425" b="1">
              <a:solidFill>
                <a:srgbClr val="008C86"/>
              </a:solidFill>
            </a:endParaRPr>
          </a:p>
          <a:p xmlns:a="http://schemas.openxmlformats.org/drawingml/2006/main">
            <a:pPr algn="ctr">
              <a:buNone/>
              <a:defRPr sz="1425" b="1">
                <a:solidFill>
                  <a:srgbClr val="008C86"/>
                </a:solidFill>
              </a:defRPr>
            </a:pPr>
            <a:r>
              <a:rPr sz="1425" b="1">
                <a:solidFill>
                  <a:srgbClr val="008C86"/>
                </a:solidFill>
              </a:rPr>
              <a:t>xᵢ ∈ ℝ⁶⁴</a:t>
            </a:r>
            <a:endParaRPr sz="1425" b="1">
              <a:solidFill>
                <a:srgbClr val="008C86"/>
              </a:solidFill>
            </a:endParaRPr>
          </a:p>
        </p:txBody>
      </p:sp>
      <p:sp>
        <p:nvSpPr>
          <p:cNvPr id="53" name="c-neighbor">
            <a:extLst xmlns:a="http://schemas.openxmlformats.org/drawingml/2006/main">
              <a:ext uri="{FF2B5EF4-FFF2-40B4-BE49-F238E27FC236}">
                <a16:creationId xmlns:a16="http://schemas.microsoft.com/office/drawing/2014/main" id="{6C7C197B-CA41-40AB-9AEE-C88B0DB8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238875"/>
            <a:ext cx="1619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7F5"/>
          </a:solidFill>
          <a:ln xmlns:a="http://schemas.openxmlformats.org/drawingml/2006/main" w="14288">
            <a:solidFill>
              <a:srgbClr val="008C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8C86"/>
                </a:solidFill>
              </a:defRPr>
            </a:pPr>
            <a:r>
              <a:rPr sz="1350" b="1">
                <a:solidFill>
                  <a:srgbClr val="008C86"/>
                </a:solidFill>
              </a:rPr>
              <a:t>Mean of 12-NN</a:t>
            </a:r>
            <a:endParaRPr sz="1350" b="1">
              <a:solidFill>
                <a:srgbClr val="008C86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008C86"/>
                </a:solidFill>
              </a:defRPr>
            </a:pPr>
            <a:r>
              <a:rPr sz="1350" b="1">
                <a:solidFill>
                  <a:srgbClr val="008C86"/>
                </a:solidFill>
              </a:rPr>
              <a:t>neighbors</a:t>
            </a:r>
            <a:endParaRPr sz="1350" b="1">
              <a:solidFill>
                <a:srgbClr val="008C86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008C86"/>
                </a:solidFill>
              </a:defRPr>
            </a:pPr>
            <a:r>
              <a:rPr sz="1350" b="1">
                <a:solidFill>
                  <a:srgbClr val="008C86"/>
                </a:solidFill>
              </a:rPr>
              <a:t>x̄ᵢ ∈ ℝ⁶⁴</a:t>
            </a:r>
            <a:endParaRPr sz="1350" b="1">
              <a:solidFill>
                <a:srgbClr val="008C86"/>
              </a:solidFill>
            </a:endParaRPr>
          </a:p>
        </p:txBody>
      </p:sp>
      <p:sp>
        <p:nvSpPr>
          <p:cNvPr id="54" name="c-concat">
            <a:extLst xmlns:a="http://schemas.openxmlformats.org/drawingml/2006/main">
              <a:ext uri="{FF2B5EF4-FFF2-40B4-BE49-F238E27FC236}">
                <a16:creationId xmlns:a16="http://schemas.microsoft.com/office/drawing/2014/main" id="{81247EF8-1D29-4798-95CA-646F3689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81625"/>
            <a:ext cx="1381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7F5"/>
          </a:solidFill>
          <a:ln xmlns:a="http://schemas.openxmlformats.org/drawingml/2006/main" w="14288">
            <a:solidFill>
              <a:srgbClr val="008C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Concatenate</a:t>
            </a:r>
            <a:endParaRPr sz="1350" b="1">
              <a:solidFill>
                <a:srgbClr val="172033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128 dimensions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55" name="c-mlp">
            <a:extLst xmlns:a="http://schemas.openxmlformats.org/drawingml/2006/main">
              <a:ext uri="{FF2B5EF4-FFF2-40B4-BE49-F238E27FC236}">
                <a16:creationId xmlns:a16="http://schemas.microsoft.com/office/drawing/2014/main" id="{D5A12F9C-D061-430C-A264-159DED04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5381625"/>
            <a:ext cx="1381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C8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LayerNorm</a:t>
            </a:r>
            <a:endParaRPr sz="1425" b="1">
              <a:solidFill>
                <a:srgbClr val="172033"/>
              </a:solidFill>
            </a:endParaRPr>
          </a:p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+</a:t>
            </a:r>
            <a:endParaRPr sz="1425" b="1">
              <a:solidFill>
                <a:srgbClr val="172033"/>
              </a:solidFill>
            </a:endParaRPr>
          </a:p>
          <a:p xmlns:a="http://schemas.openxmlformats.org/drawingml/2006/main">
            <a:pPr algn="ctr">
              <a:buNone/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MLP</a:t>
            </a:r>
            <a:endParaRPr sz="1425" b="1">
              <a:solidFill>
                <a:srgbClr val="172033"/>
              </a:solidFill>
            </a:endParaRPr>
          </a:p>
        </p:txBody>
      </p:sp>
      <p:sp>
        <p:nvSpPr>
          <p:cNvPr id="56" name="c-gate">
            <a:extLst xmlns:a="http://schemas.openxmlformats.org/drawingml/2006/main">
              <a:ext uri="{FF2B5EF4-FFF2-40B4-BE49-F238E27FC236}">
                <a16:creationId xmlns:a16="http://schemas.microsoft.com/office/drawing/2014/main" id="{AA5CAD26-AB10-45E0-BF74-B80034EE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5715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F269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26922"/>
                </a:solidFill>
              </a:defRPr>
            </a:pPr>
            <a:r>
              <a:rPr sz="1950" b="1">
                <a:solidFill>
                  <a:srgbClr val="F26922"/>
                </a:solidFill>
              </a:rPr>
              <a:t>×</a:t>
            </a:r>
            <a:endParaRPr sz="1950" b="1">
              <a:solidFill>
                <a:srgbClr val="F26922"/>
              </a:solidFill>
            </a:endParaRPr>
          </a:p>
        </p:txBody>
      </p:sp>
      <p:sp>
        <p:nvSpPr>
          <p:cNvPr id="57" name="c-add">
            <a:extLst xmlns:a="http://schemas.openxmlformats.org/drawingml/2006/main">
              <a:ext uri="{FF2B5EF4-FFF2-40B4-BE49-F238E27FC236}">
                <a16:creationId xmlns:a16="http://schemas.microsoft.com/office/drawing/2014/main" id="{F390865A-C705-4977-92FB-0A03DAAA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715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720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+</a:t>
            </a:r>
            <a:endParaRPr sz="1650" b="1">
              <a:solidFill>
                <a:srgbClr val="172033"/>
              </a:solidFill>
            </a:endParaRPr>
          </a:p>
        </p:txBody>
      </p:sp>
      <p:cxnSp>
        <p:nvCxnSpPr>
          <p:cNvPr id="190" name="直接箭头连接符 125"/>
          <p:cNvCxnSpPr>
            <a:stCxn xmlns:a="http://schemas.openxmlformats.org/drawingml/2006/main" id="52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9858375" y="5334000"/>
            <a:ext cx="42862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91" name="直接箭头连接符 126"/>
          <p:cNvCxnSpPr>
            <a:stCxn xmlns:a="http://schemas.openxmlformats.org/drawingml/2006/main" id="5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9858375" y="5905500"/>
            <a:ext cx="428625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92" name="直接箭头连接符 127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11668125" y="59055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93" name="直接箭头连接符 128"/>
          <p:cNvCxnSpPr>
            <a:stCxn xmlns:a="http://schemas.openxmlformats.org/drawingml/2006/main" id="55" idx="3"/>
            <a:endCxn xmlns:a="http://schemas.openxmlformats.org/drawingml/2006/main" id="56" idx="2"/>
          </p:cNvCxnSpPr>
          <p:nvPr/>
        </p:nvCxnSpPr>
        <p:spPr>
          <a:xfrm xmlns:a="http://schemas.openxmlformats.org/drawingml/2006/main">
            <a:off x="13430250" y="5905500"/>
            <a:ext cx="428625" cy="57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94" name="直接箭头连接符 129"/>
          <p:cNvCxnSpPr>
            <a:stCxn xmlns:a="http://schemas.openxmlformats.org/drawingml/2006/main" id="56" idx="6"/>
            <a:endCxn xmlns:a="http://schemas.openxmlformats.org/drawingml/2006/main" id="57" idx="2"/>
          </p:cNvCxnSpPr>
          <p:nvPr/>
        </p:nvCxnSpPr>
        <p:spPr>
          <a:xfrm xmlns:a="http://schemas.openxmlformats.org/drawingml/2006/main" flipV="1">
            <a:off x="14354175" y="5915025"/>
            <a:ext cx="21907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2033"/>
            </a:solidFill>
            <a:prstDash val="solid"/>
            <a:tailEnd type="arrow" w="med" len="med"/>
          </a:ln>
        </p:spPr>
      </p:cxnSp>
      <p:cxnSp>
        <p:nvCxnSpPr>
          <p:cNvPr id="195" name="肘形连接符 130"/>
          <p:cNvCxnSpPr>
            <a:stCxn xmlns:a="http://schemas.openxmlformats.org/drawingml/2006/main" id="52" idx="2"/>
            <a:endCxn xmlns:a="http://schemas.openxmlformats.org/drawingml/2006/main" id="57" idx="4"/>
          </p:cNvCxnSpPr>
          <p:nvPr/>
        </p:nvCxnSpPr>
        <p:spPr>
          <a:xfrm xmlns:a="http://schemas.openxmlformats.org/drawingml/2006/main">
            <a:off x="9048750" y="5715000"/>
            <a:ext cx="5724525" cy="8286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C98A8"/>
            </a:solidFill>
            <a:prstDash val="solid"/>
            <a:tailEnd type="arrow" w="med" len="med"/>
          </a:ln>
        </p:spPr>
      </p:cxnSp>
      <p:sp>
        <p:nvSpPr>
          <p:cNvPr id="64" name="c-gate-label">
            <a:extLst xmlns:a="http://schemas.openxmlformats.org/drawingml/2006/main">
              <a:ext uri="{FF2B5EF4-FFF2-40B4-BE49-F238E27FC236}">
                <a16:creationId xmlns:a16="http://schemas.microsoft.com/office/drawing/2014/main" id="{605679B6-721D-4995-AD24-D611080E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476250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26922"/>
                </a:solidFill>
              </a:defRPr>
            </a:pPr>
            <a:r>
              <a:rPr sz="1425" b="1">
                <a:solidFill>
                  <a:srgbClr val="F26922"/>
                </a:solidFill>
              </a:rPr>
              <a:t>Gate: tanh(α)</a:t>
            </a:r>
            <a:endParaRPr sz="1425" b="1">
              <a:solidFill>
                <a:srgbClr val="F26922"/>
              </a:solidFill>
            </a:endParaRPr>
          </a:p>
          <a:p xmlns:a="http://schemas.openxmlformats.org/drawingml/2006/main">
            <a:pPr algn="ctr">
              <a:buNone/>
              <a:defRPr sz="1425" b="1">
                <a:solidFill>
                  <a:srgbClr val="F26922"/>
                </a:solidFill>
              </a:defRPr>
            </a:pPr>
            <a:r>
              <a:rPr sz="1425" b="1">
                <a:solidFill>
                  <a:srgbClr val="F26922"/>
                </a:solidFill>
              </a:rPr>
              <a:t>α initialized to 0</a:t>
            </a:r>
            <a:endParaRPr sz="1425" b="1">
              <a:solidFill>
                <a:srgbClr val="F26922"/>
              </a:solidFill>
            </a:endParaRPr>
          </a:p>
        </p:txBody>
      </p:sp>
      <p:sp>
        <p:nvSpPr>
          <p:cNvPr id="65" name="c-gate-anchor">
            <a:extLst xmlns:a="http://schemas.openxmlformats.org/drawingml/2006/main">
              <a:ext uri="{FF2B5EF4-FFF2-40B4-BE49-F238E27FC236}">
                <a16:creationId xmlns:a16="http://schemas.microsoft.com/office/drawing/2014/main" id="{3AB8B562-737D-47AE-A2AF-5C7544DE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5334000"/>
            <a:ext cx="190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cxnSp>
        <p:nvCxnSpPr>
          <p:cNvPr id="198" name="直接箭头连接符 133"/>
          <p:cNvCxnSpPr>
            <a:stCxn xmlns:a="http://schemas.openxmlformats.org/drawingml/2006/main" id="6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14077950" y="5448300"/>
            <a:ext cx="2857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922"/>
            </a:solidFill>
            <a:prstDash val="solid"/>
            <a:tailEnd type="arrow" w="med" len="med"/>
          </a:ln>
        </p:spPr>
      </p:cxnSp>
      <p:sp>
        <p:nvSpPr>
          <p:cNvPr id="67" name="c-output-label">
            <a:extLst xmlns:a="http://schemas.openxmlformats.org/drawingml/2006/main">
              <a:ext uri="{FF2B5EF4-FFF2-40B4-BE49-F238E27FC236}">
                <a16:creationId xmlns:a16="http://schemas.microsoft.com/office/drawing/2014/main" id="{8F9F28AD-C856-41A3-BCF3-426DA2E0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67627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Add gated local correction</a:t>
            </a:r>
            <a:endParaRPr sz="1350" b="1">
              <a:solidFill>
                <a:srgbClr val="172033"/>
              </a:solidFill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to backbone output</a:t>
            </a:r>
            <a:endParaRPr sz="1350" b="1">
              <a:solidFill>
                <a:srgbClr val="172033"/>
              </a:solidFill>
            </a:endParaRPr>
          </a:p>
        </p:txBody>
      </p:sp>
      <p:sp>
        <p:nvSpPr>
          <p:cNvPr id="68" name="legend">
            <a:extLst xmlns:a="http://schemas.openxmlformats.org/drawingml/2006/main">
              <a:ext uri="{FF2B5EF4-FFF2-40B4-BE49-F238E27FC236}">
                <a16:creationId xmlns:a16="http://schemas.microsoft.com/office/drawing/2014/main" id="{9EDF561F-173E-4DE0-AD03-8F88A53C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524750"/>
            <a:ext cx="6572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8C98A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NAVY  Physics-token global pathway     TEAL  Local KNN pathway     ORANGE  Zero-init gate     ⊕  Residual addition</a:t>
            </a:r>
            <a:endParaRPr sz="1200" b="0">
              <a:solidFill>
                <a:srgbClr val="172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681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2026-09-16T23:09:47.7640000Z</dcterms:created>
  <dcterms:modified xsi:type="dcterms:W3CDTF">2026-09-16T23:09:47.7640000Z</dcterms:modified>
</coreProperties>
</file>