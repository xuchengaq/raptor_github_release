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C:/Users/cheng/OneDrive/Desktop/cx/RAPTOR/raptor/model.py</a:t>
            </a:r>
          </a:p>
          <a:p>
            <a:r>
              <a:t>- C:/Users/cheng/OneDrive/Desktop/cx/RAPTOR/transolver_tiny/model.py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panel-a"/>
          <p:cNvSpPr>
            <a:spLocks noGrp="1"/>
          </p:cNvSpPr>
          <p:nvPr/>
        </p:nvSpPr>
        <p:spPr>
          <a:xfrm>
            <a:off x="266700" y="1333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23A73"/>
                </a:solidFill>
              </a:defRPr>
            </a:pPr>
            <a:r>
              <a:rPr sz="2250" b="1">
                <a:solidFill>
                  <a:srgbClr val="123A73"/>
                </a:solidFill>
              </a:rPr>
              <a:t>(a)  RAPTOR Overall Architecture</a:t>
            </a:r>
            <a:endParaRPr sz="2250" b="1">
              <a:solidFill>
                <a:srgbClr val="123A73"/>
              </a:solidFill>
            </a:endParaRPr>
          </a:p>
        </p:txBody>
      </p:sp>
      <p:sp>
        <p:nvSpPr>
          <p:cNvPr id="2" name="panel-b"/>
          <p:cNvSpPr>
            <a:spLocks noGrp="1"/>
          </p:cNvSpPr>
          <p:nvPr/>
        </p:nvSpPr>
        <p:spPr>
          <a:xfrm>
            <a:off x="266700" y="4095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23A73"/>
                </a:solidFill>
              </a:defRPr>
            </a:pPr>
            <a:r>
              <a:rPr sz="2100" b="1">
                <a:solidFill>
                  <a:srgbClr val="123A73"/>
                </a:solidFill>
              </a:rPr>
              <a:t>(b)  Physics-Attention Backbone</a:t>
            </a:r>
            <a:endParaRPr sz="2100" b="1">
              <a:solidFill>
                <a:srgbClr val="123A73"/>
              </a:solidFill>
            </a:endParaRPr>
          </a:p>
        </p:txBody>
      </p:sp>
      <p:sp>
        <p:nvSpPr>
          <p:cNvPr id="3" name="panel-c"/>
          <p:cNvSpPr>
            <a:spLocks noGrp="1"/>
          </p:cNvSpPr>
          <p:nvPr/>
        </p:nvSpPr>
        <p:spPr>
          <a:xfrm>
            <a:off x="8143875" y="4095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008C86"/>
                </a:solidFill>
              </a:defRPr>
            </a:pPr>
            <a:r>
              <a:rPr sz="2100" b="1">
                <a:solidFill>
                  <a:srgbClr val="008C86"/>
                </a:solidFill>
              </a:rPr>
              <a:t>(c)  Zero-Initialized Local Adapter</a:t>
            </a:r>
            <a:endParaRPr sz="2100" b="1">
              <a:solidFill>
                <a:srgbClr val="008C86"/>
              </a:solidFill>
            </a:endParaRPr>
          </a:p>
        </p:txBody>
      </p:sp>
      <p:sp>
        <p:nvSpPr>
          <p:cNvPr id="4" name="rule-414"/>
          <p:cNvSpPr>
            <a:spLocks noGrp="1"/>
          </p:cNvSpPr>
          <p:nvPr/>
        </p:nvSpPr>
        <p:spPr>
          <a:xfrm>
            <a:off x="171450" y="3943350"/>
            <a:ext cx="14897100" cy="14288"/>
          </a:xfrm>
          <a:prstGeom prst="rect">
            <a:avLst/>
          </a:prstGeom>
          <a:solidFill>
            <a:srgbClr val="8C98A8"/>
          </a:solidFill>
          <a:ln w="0">
            <a:solidFill>
              <a:srgbClr val="8C98A8"/>
            </a:solidFill>
            <a:prstDash val="solid"/>
          </a:ln>
        </p:spPr>
      </p:sp>
      <p:sp>
        <p:nvSpPr>
          <p:cNvPr id="5" name="vertical-rule"/>
          <p:cNvSpPr>
            <a:spLocks noGrp="1"/>
          </p:cNvSpPr>
          <p:nvPr/>
        </p:nvSpPr>
        <p:spPr>
          <a:xfrm>
            <a:off x="7905750" y="4029075"/>
            <a:ext cx="14288" cy="3905250"/>
          </a:xfrm>
          <a:prstGeom prst="rect">
            <a:avLst/>
          </a:prstGeom>
          <a:solidFill>
            <a:srgbClr val="8C98A8"/>
          </a:solidFill>
          <a:ln w="0">
            <a:solidFill>
              <a:srgbClr val="8C98A8"/>
            </a:solidFill>
            <a:prstDash val="solid"/>
          </a:ln>
        </p:spPr>
      </p:sp>
      <p:sp>
        <p:nvSpPr>
          <p:cNvPr id="6" name="a-input"/>
          <p:cNvSpPr>
            <a:spLocks noGrp="1"/>
          </p:cNvSpPr>
          <p:nvPr/>
        </p:nvSpPr>
        <p:spPr>
          <a:xfrm>
            <a:off x="304800" y="876300"/>
            <a:ext cx="2190750" cy="1762125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4288">
            <a:solidFill>
              <a:srgbClr val="8C98A8"/>
            </a:solidFill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AirfRANS Input</a:t>
            </a:r>
            <a:endParaRPr sz="1500" b="0">
              <a:solidFill>
                <a:srgbClr val="172033"/>
              </a:solidFill>
            </a:endParaRPr>
          </a:p>
          <a:p>
            <a:pPr algn="ctr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4096 nodes × 7 features</a:t>
            </a:r>
            <a:endParaRPr sz="1500" b="0">
              <a:solidFill>
                <a:srgbClr val="172033"/>
              </a:solidFill>
            </a:endParaRPr>
          </a:p>
          <a:p>
            <a:endParaRPr sz="1500"/>
          </a:p>
          <a:p>
            <a:pPr algn="ctr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•  •  airfoil point cloud  •  •  •</a:t>
            </a:r>
            <a:endParaRPr sz="1500" b="0">
              <a:solidFill>
                <a:srgbClr val="172033"/>
              </a:solidFill>
            </a:endParaRPr>
          </a:p>
          <a:p>
            <a:endParaRPr sz="1500"/>
          </a:p>
          <a:p>
            <a:pPr algn="ctr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 = 4096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7" name="a-input-proj"/>
          <p:cNvSpPr>
            <a:spLocks noGrp="1"/>
          </p:cNvSpPr>
          <p:nvPr/>
        </p:nvSpPr>
        <p:spPr>
          <a:xfrm>
            <a:off x="2952750" y="1285875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3A73"/>
                </a:solidFill>
              </a:defRPr>
            </a:pPr>
            <a:r>
              <a:rPr sz="1575" b="1">
                <a:solidFill>
                  <a:srgbClr val="123A73"/>
                </a:solidFill>
              </a:rPr>
              <a:t>Input Projection</a:t>
            </a:r>
            <a:endParaRPr sz="1575" b="1">
              <a:solidFill>
                <a:srgbClr val="123A73"/>
              </a:solidFill>
            </a:endParaRPr>
          </a:p>
          <a:p>
            <a:pPr algn="ctr">
              <a:defRPr sz="1575" b="1">
                <a:solidFill>
                  <a:srgbClr val="123A73"/>
                </a:solidFill>
              </a:defRPr>
            </a:pPr>
            <a:r>
              <a:rPr sz="1575" b="1">
                <a:solidFill>
                  <a:srgbClr val="123A73"/>
                </a:solidFill>
              </a:rPr>
              <a:t>7 → 64</a:t>
            </a:r>
            <a:endParaRPr sz="1575" b="1">
              <a:solidFill>
                <a:srgbClr val="123A73"/>
              </a:solidFill>
            </a:endParaRPr>
          </a:p>
        </p:txBody>
      </p:sp>
      <p:sp>
        <p:nvSpPr>
          <p:cNvPr id="8" name="a-block-1"/>
          <p:cNvSpPr>
            <a:spLocks noGrp="1"/>
          </p:cNvSpPr>
          <p:nvPr/>
        </p:nvSpPr>
        <p:spPr>
          <a:xfrm>
            <a:off x="4905375" y="742950"/>
            <a:ext cx="2857500" cy="22098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4288">
            <a:solidFill>
              <a:srgbClr val="8C98A8"/>
            </a:solidFill>
            <a:prstDash val="solid"/>
          </a:ln>
        </p:spPr>
        <p:txBody>
          <a:bodyPr anchor="ctr"/>
          <a:lstStyle/>
          <a:p/>
        </p:txBody>
      </p:sp>
      <p:sp>
        <p:nvSpPr>
          <p:cNvPr id="9" name="a-block-title-1"/>
          <p:cNvSpPr>
            <a:spLocks noGrp="1"/>
          </p:cNvSpPr>
          <p:nvPr/>
        </p:nvSpPr>
        <p:spPr>
          <a:xfrm>
            <a:off x="5095875" y="8001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RAPTOR Block</a:t>
            </a:r>
            <a:endParaRPr sz="1725" b="1">
              <a:solidFill>
                <a:srgbClr val="172033"/>
              </a:solidFill>
            </a:endParaRPr>
          </a:p>
        </p:txBody>
      </p:sp>
      <p:sp>
        <p:nvSpPr>
          <p:cNvPr id="10" name="a-physics-1"/>
          <p:cNvSpPr>
            <a:spLocks noGrp="1"/>
          </p:cNvSpPr>
          <p:nvPr/>
        </p:nvSpPr>
        <p:spPr>
          <a:xfrm>
            <a:off x="5238750" y="1238250"/>
            <a:ext cx="2000250" cy="590550"/>
          </a:xfrm>
          <a:prstGeom prst="roundRect">
            <a:avLst>
              <a:gd name="adj" fmla="val 12903"/>
            </a:avLst>
          </a:prstGeom>
          <a:solidFill>
            <a:srgbClr val="123A73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Physics-Attention</a:t>
            </a:r>
            <a:endParaRPr sz="1425" b="1">
              <a:solidFill>
                <a:srgbClr val="FFFFFF"/>
              </a:solidFill>
            </a:endParaRP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Backbone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a-local-1"/>
          <p:cNvSpPr>
            <a:spLocks noGrp="1"/>
          </p:cNvSpPr>
          <p:nvPr/>
        </p:nvSpPr>
        <p:spPr>
          <a:xfrm>
            <a:off x="5238750" y="2114550"/>
            <a:ext cx="2000250" cy="590550"/>
          </a:xfrm>
          <a:prstGeom prst="roundRect">
            <a:avLst>
              <a:gd name="adj" fmla="val 12903"/>
            </a:avLst>
          </a:prstGeom>
          <a:solidFill>
            <a:srgbClr val="008C86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Resource Adapter</a:t>
            </a:r>
            <a:endParaRPr sz="1350" b="1">
              <a:solidFill>
                <a:srgbClr val="FFFFFF"/>
              </a:solidFill>
            </a:endParaRP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(12-NN)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a-add-1"/>
          <p:cNvSpPr>
            <a:spLocks noGrp="1"/>
          </p:cNvSpPr>
          <p:nvPr/>
        </p:nvSpPr>
        <p:spPr>
          <a:xfrm>
            <a:off x="7410450" y="1685925"/>
            <a:ext cx="323850" cy="3238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720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3" name="a-dots"/>
          <p:cNvSpPr>
            <a:spLocks noGrp="1"/>
          </p:cNvSpPr>
          <p:nvPr/>
        </p:nvSpPr>
        <p:spPr>
          <a:xfrm>
            <a:off x="8001000" y="1524000"/>
            <a:ext cx="609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5E6878"/>
                </a:solidFill>
              </a:defRPr>
            </a:pPr>
            <a:r>
              <a:rPr sz="2850" b="1">
                <a:solidFill>
                  <a:srgbClr val="5E6878"/>
                </a:solidFill>
              </a:rPr>
              <a:t>···</a:t>
            </a:r>
            <a:endParaRPr sz="2850" b="1">
              <a:solidFill>
                <a:srgbClr val="5E6878"/>
              </a:solidFill>
            </a:endParaRPr>
          </a:p>
        </p:txBody>
      </p:sp>
      <p:sp>
        <p:nvSpPr>
          <p:cNvPr id="14" name="a-block-4"/>
          <p:cNvSpPr>
            <a:spLocks noGrp="1"/>
          </p:cNvSpPr>
          <p:nvPr/>
        </p:nvSpPr>
        <p:spPr>
          <a:xfrm>
            <a:off x="8810625" y="742950"/>
            <a:ext cx="2857500" cy="220980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4288">
            <a:solidFill>
              <a:srgbClr val="8C98A8"/>
            </a:solidFill>
            <a:prstDash val="solid"/>
          </a:ln>
        </p:spPr>
        <p:txBody>
          <a:bodyPr anchor="ctr"/>
          <a:lstStyle/>
          <a:p/>
        </p:txBody>
      </p:sp>
      <p:sp>
        <p:nvSpPr>
          <p:cNvPr id="15" name="a-block-title-4"/>
          <p:cNvSpPr>
            <a:spLocks noGrp="1"/>
          </p:cNvSpPr>
          <p:nvPr/>
        </p:nvSpPr>
        <p:spPr>
          <a:xfrm>
            <a:off x="9001125" y="8001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RAPTOR Block × 4</a:t>
            </a:r>
            <a:endParaRPr sz="1725" b="1">
              <a:solidFill>
                <a:srgbClr val="172033"/>
              </a:solidFill>
            </a:endParaRPr>
          </a:p>
        </p:txBody>
      </p:sp>
      <p:sp>
        <p:nvSpPr>
          <p:cNvPr id="16" name="a-physics-4"/>
          <p:cNvSpPr>
            <a:spLocks noGrp="1"/>
          </p:cNvSpPr>
          <p:nvPr/>
        </p:nvSpPr>
        <p:spPr>
          <a:xfrm>
            <a:off x="9144000" y="1238250"/>
            <a:ext cx="2000250" cy="590550"/>
          </a:xfrm>
          <a:prstGeom prst="roundRect">
            <a:avLst>
              <a:gd name="adj" fmla="val 12903"/>
            </a:avLst>
          </a:prstGeom>
          <a:solidFill>
            <a:srgbClr val="123A73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Physics-Attention</a:t>
            </a:r>
            <a:endParaRPr sz="1425" b="1">
              <a:solidFill>
                <a:srgbClr val="FFFFFF"/>
              </a:solidFill>
            </a:endParaRP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Backbone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7" name="a-local-4"/>
          <p:cNvSpPr>
            <a:spLocks noGrp="1"/>
          </p:cNvSpPr>
          <p:nvPr/>
        </p:nvSpPr>
        <p:spPr>
          <a:xfrm>
            <a:off x="9144000" y="2114550"/>
            <a:ext cx="2000250" cy="590550"/>
          </a:xfrm>
          <a:prstGeom prst="roundRect">
            <a:avLst>
              <a:gd name="adj" fmla="val 12903"/>
            </a:avLst>
          </a:prstGeom>
          <a:solidFill>
            <a:srgbClr val="008C86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Resource Adapter</a:t>
            </a:r>
            <a:endParaRPr sz="1350" b="1">
              <a:solidFill>
                <a:srgbClr val="FFFFFF"/>
              </a:solidFill>
            </a:endParaRP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(12-NN)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8" name="a-add-4"/>
          <p:cNvSpPr>
            <a:spLocks noGrp="1"/>
          </p:cNvSpPr>
          <p:nvPr/>
        </p:nvSpPr>
        <p:spPr>
          <a:xfrm>
            <a:off x="11315700" y="1685925"/>
            <a:ext cx="323850" cy="3238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720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9" name="a-output"/>
          <p:cNvSpPr>
            <a:spLocks noGrp="1"/>
          </p:cNvSpPr>
          <p:nvPr/>
        </p:nvSpPr>
        <p:spPr>
          <a:xfrm>
            <a:off x="12144375" y="1381125"/>
            <a:ext cx="1143000" cy="876300"/>
          </a:xfrm>
          <a:prstGeom prst="roundRect">
            <a:avLst>
              <a:gd name="adj" fmla="val 8696"/>
            </a:avLst>
          </a:prstGeom>
          <a:solidFill>
            <a:srgbClr val="F3EEFB"/>
          </a:solidFill>
          <a:ln w="14288">
            <a:solidFill>
              <a:srgbClr val="7551B8"/>
            </a:solidFill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Output</a:t>
            </a:r>
            <a:endParaRPr sz="1575" b="1">
              <a:solidFill>
                <a:srgbClr val="172033"/>
              </a:solidFill>
            </a:endParaRPr>
          </a:p>
          <a:p>
            <a:pPr algn="ctr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Head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20" name="a-outputs"/>
          <p:cNvSpPr>
            <a:spLocks noGrp="1"/>
          </p:cNvSpPr>
          <p:nvPr/>
        </p:nvSpPr>
        <p:spPr>
          <a:xfrm>
            <a:off x="13639800" y="762000"/>
            <a:ext cx="1285875" cy="2190750"/>
          </a:xfrm>
          <a:prstGeom prst="roundRect">
            <a:avLst>
              <a:gd name="adj" fmla="val 5926"/>
            </a:avLst>
          </a:prstGeom>
          <a:solidFill>
            <a:srgbClr val="FBF9FE"/>
          </a:solidFill>
          <a:ln w="14288">
            <a:solidFill>
              <a:srgbClr val="7551B8"/>
            </a:solidFill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uₓ   x-velocity</a:t>
            </a:r>
            <a:endParaRPr sz="1350" b="0">
              <a:solidFill>
                <a:srgbClr val="172033"/>
              </a:solidFill>
            </a:endParaRPr>
          </a:p>
          <a:p>
            <a:endParaRPr sz="1350"/>
          </a:p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uᵧ   y-velocity</a:t>
            </a:r>
            <a:endParaRPr sz="1350" b="0">
              <a:solidFill>
                <a:srgbClr val="172033"/>
              </a:solidFill>
            </a:endParaRPr>
          </a:p>
          <a:p>
            <a:endParaRPr sz="1350"/>
          </a:p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    pressure</a:t>
            </a:r>
            <a:endParaRPr sz="1350" b="0">
              <a:solidFill>
                <a:srgbClr val="172033"/>
              </a:solidFill>
            </a:endParaRPr>
          </a:p>
          <a:p>
            <a:endParaRPr sz="1350"/>
          </a:p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νₜ   turbulent</a:t>
            </a:r>
            <a:endParaRPr sz="1350" b="0">
              <a:solidFill>
                <a:srgbClr val="172033"/>
              </a:solidFill>
            </a:endParaRPr>
          </a:p>
          <a:p>
            <a:pPr algn="ctr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   viscosity</a:t>
            </a:r>
            <a:endParaRPr sz="1350" b="0">
              <a:solidFill>
                <a:srgbClr val="172033"/>
              </a:solidFill>
            </a:endParaRPr>
          </a:p>
        </p:txBody>
      </p:sp>
      <p:cxnSp>
        <p:nvCxnSpPr>
          <p:cNvPr id="89" name="直接箭头连接符 88"/>
          <p:cNvCxnSpPr>
            <a:stCxn id="6" idx="3"/>
            <a:endCxn id="7" idx="1"/>
          </p:cNvCxnSpPr>
          <p:nvPr/>
        </p:nvCxnSpPr>
        <p:spPr>
          <a:xfrm>
            <a:off x="2495550" y="1757363"/>
            <a:ext cx="457200" cy="4763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0" name="直接箭头连接符 89"/>
          <p:cNvCxnSpPr>
            <a:stCxn id="7" idx="3"/>
            <a:endCxn id="10" idx="1"/>
          </p:cNvCxnSpPr>
          <p:nvPr/>
        </p:nvCxnSpPr>
        <p:spPr>
          <a:xfrm flipV="1">
            <a:off x="4381500" y="1533525"/>
            <a:ext cx="857250" cy="22860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1" name="直接箭头连接符 90"/>
          <p:cNvCxnSpPr>
            <a:stCxn id="7" idx="3"/>
            <a:endCxn id="11" idx="1"/>
          </p:cNvCxnSpPr>
          <p:nvPr/>
        </p:nvCxnSpPr>
        <p:spPr>
          <a:xfrm>
            <a:off x="4381500" y="1762125"/>
            <a:ext cx="857250" cy="64770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2" name="直接箭头连接符 91"/>
          <p:cNvCxnSpPr>
            <a:stCxn id="10" idx="3"/>
            <a:endCxn id="12" idx="2"/>
          </p:cNvCxnSpPr>
          <p:nvPr/>
        </p:nvCxnSpPr>
        <p:spPr>
          <a:xfrm>
            <a:off x="7239000" y="1533525"/>
            <a:ext cx="171450" cy="31432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3" name="直接箭头连接符 92"/>
          <p:cNvCxnSpPr>
            <a:stCxn id="11" idx="3"/>
            <a:endCxn id="12" idx="2"/>
          </p:cNvCxnSpPr>
          <p:nvPr/>
        </p:nvCxnSpPr>
        <p:spPr>
          <a:xfrm flipV="1">
            <a:off x="7239000" y="1847850"/>
            <a:ext cx="171450" cy="56197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4" name="直接箭头连接符 93"/>
          <p:cNvCxnSpPr>
            <a:stCxn id="12" idx="6"/>
            <a:endCxn id="14" idx="1"/>
          </p:cNvCxnSpPr>
          <p:nvPr/>
        </p:nvCxnSpPr>
        <p:spPr>
          <a:xfrm>
            <a:off x="7734300" y="1847850"/>
            <a:ext cx="1076325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5" name="直接箭头连接符 94"/>
          <p:cNvCxnSpPr>
            <a:stCxn id="16" idx="3"/>
            <a:endCxn id="18" idx="2"/>
          </p:cNvCxnSpPr>
          <p:nvPr/>
        </p:nvCxnSpPr>
        <p:spPr>
          <a:xfrm>
            <a:off x="11144250" y="1533525"/>
            <a:ext cx="171450" cy="31432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6" name="直接箭头连接符 95"/>
          <p:cNvCxnSpPr>
            <a:stCxn id="17" idx="3"/>
            <a:endCxn id="18" idx="2"/>
          </p:cNvCxnSpPr>
          <p:nvPr/>
        </p:nvCxnSpPr>
        <p:spPr>
          <a:xfrm flipV="1">
            <a:off x="11144250" y="1847850"/>
            <a:ext cx="171450" cy="56197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7" name="直接箭头连接符 96"/>
          <p:cNvCxnSpPr>
            <a:stCxn id="18" idx="6"/>
            <a:endCxn id="19" idx="1"/>
          </p:cNvCxnSpPr>
          <p:nvPr/>
        </p:nvCxnSpPr>
        <p:spPr>
          <a:xfrm flipV="1">
            <a:off x="11639550" y="1819275"/>
            <a:ext cx="504825" cy="2857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98" name="直接箭头连接符 97"/>
          <p:cNvCxnSpPr>
            <a:stCxn id="19" idx="3"/>
            <a:endCxn id="20" idx="1"/>
          </p:cNvCxnSpPr>
          <p:nvPr/>
        </p:nvCxnSpPr>
        <p:spPr>
          <a:xfrm>
            <a:off x="13287375" y="1819275"/>
            <a:ext cx="352425" cy="3810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sp>
        <p:nvSpPr>
          <p:cNvPr id="32" name="b-nodes"/>
          <p:cNvSpPr>
            <a:spLocks noGrp="1"/>
          </p:cNvSpPr>
          <p:nvPr/>
        </p:nvSpPr>
        <p:spPr>
          <a:xfrm>
            <a:off x="266700" y="4933950"/>
            <a:ext cx="1095375" cy="116205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4288">
            <a:solidFill>
              <a:srgbClr val="8C98A8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Node</a:t>
            </a:r>
            <a:endParaRPr sz="1350" b="1">
              <a:solidFill>
                <a:srgbClr val="172033"/>
              </a:solidFill>
            </a:endParaRPr>
          </a:p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features</a:t>
            </a:r>
            <a:endParaRPr sz="1350" b="1">
              <a:solidFill>
                <a:srgbClr val="172033"/>
              </a:solidFill>
            </a:endParaRPr>
          </a:p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 × 64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33" name="b-assign"/>
          <p:cNvSpPr>
            <a:spLocks noGrp="1"/>
          </p:cNvSpPr>
          <p:nvPr/>
        </p:nvSpPr>
        <p:spPr>
          <a:xfrm>
            <a:off x="1714500" y="4953000"/>
            <a:ext cx="1428750" cy="1123950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Soft</a:t>
            </a:r>
            <a:endParaRPr sz="1350" b="1">
              <a:solidFill>
                <a:srgbClr val="123A73"/>
              </a:solidFill>
            </a:endParaRPr>
          </a:p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Point-to-Slice</a:t>
            </a:r>
            <a:endParaRPr sz="1350" b="1">
              <a:solidFill>
                <a:srgbClr val="123A73"/>
              </a:solidFill>
            </a:endParaRPr>
          </a:p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Assignment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4" name="b-tokens"/>
          <p:cNvSpPr>
            <a:spLocks noGrp="1"/>
          </p:cNvSpPr>
          <p:nvPr/>
        </p:nvSpPr>
        <p:spPr>
          <a:xfrm>
            <a:off x="3524250" y="4953000"/>
            <a:ext cx="1285875" cy="1123950"/>
          </a:xfrm>
          <a:prstGeom prst="roundRect">
            <a:avLst>
              <a:gd name="adj" fmla="val 6780"/>
            </a:avLst>
          </a:prstGeom>
          <a:solidFill>
            <a:srgbClr val="123A73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64 Physics</a:t>
            </a:r>
            <a:endParaRPr sz="1350" b="1">
              <a:solidFill>
                <a:srgbClr val="FFFFFF"/>
              </a:solidFill>
            </a:endParaRP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Tokens</a:t>
            </a:r>
            <a:endParaRPr sz="1350" b="1">
              <a:solidFill>
                <a:srgbClr val="FFFFFF"/>
              </a:solidFill>
            </a:endParaRPr>
          </a:p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(slices)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5" name="b-attn"/>
          <p:cNvSpPr>
            <a:spLocks noGrp="1"/>
          </p:cNvSpPr>
          <p:nvPr/>
        </p:nvSpPr>
        <p:spPr>
          <a:xfrm>
            <a:off x="5191125" y="4953000"/>
            <a:ext cx="1381125" cy="1123950"/>
          </a:xfrm>
          <a:prstGeom prst="roundRect">
            <a:avLst>
              <a:gd name="adj" fmla="val 6780"/>
            </a:avLst>
          </a:prstGeom>
          <a:solidFill>
            <a:srgbClr val="EAF1FA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Multi-Head</a:t>
            </a:r>
            <a:endParaRPr sz="1350" b="1">
              <a:solidFill>
                <a:srgbClr val="123A73"/>
              </a:solidFill>
            </a:endParaRPr>
          </a:p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Slice Attention</a:t>
            </a:r>
            <a:endParaRPr sz="1350" b="1">
              <a:solidFill>
                <a:srgbClr val="123A73"/>
              </a:solidFill>
            </a:endParaRPr>
          </a:p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4 heads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6" name="b-deslice"/>
          <p:cNvSpPr>
            <a:spLocks noGrp="1"/>
          </p:cNvSpPr>
          <p:nvPr/>
        </p:nvSpPr>
        <p:spPr>
          <a:xfrm>
            <a:off x="6953250" y="4953000"/>
            <a:ext cx="781050" cy="1123950"/>
          </a:xfrm>
          <a:prstGeom prst="roundRect">
            <a:avLst>
              <a:gd name="adj" fmla="val 9756"/>
            </a:avLst>
          </a:prstGeom>
          <a:solidFill>
            <a:srgbClr val="EAF1FA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De-</a:t>
            </a:r>
            <a:endParaRPr sz="1275" b="1">
              <a:solidFill>
                <a:srgbClr val="123A73"/>
              </a:solidFill>
            </a:endParaRPr>
          </a:p>
          <a:p>
            <a:pPr algn="ctr"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slice</a:t>
            </a:r>
            <a:endParaRPr sz="1275" b="1">
              <a:solidFill>
                <a:srgbClr val="123A73"/>
              </a:solidFill>
            </a:endParaRPr>
          </a:p>
          <a:p>
            <a:pPr algn="ctr"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to</a:t>
            </a:r>
            <a:endParaRPr sz="1275" b="1">
              <a:solidFill>
                <a:srgbClr val="123A73"/>
              </a:solidFill>
            </a:endParaRPr>
          </a:p>
          <a:p>
            <a:pPr algn="ctr"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Nodes</a:t>
            </a:r>
            <a:endParaRPr sz="1275" b="1">
              <a:solidFill>
                <a:srgbClr val="123A73"/>
              </a:solidFill>
            </a:endParaRPr>
          </a:p>
        </p:txBody>
      </p:sp>
      <p:sp>
        <p:nvSpPr>
          <p:cNvPr id="37" name="b-add-1"/>
          <p:cNvSpPr>
            <a:spLocks noGrp="1"/>
          </p:cNvSpPr>
          <p:nvPr/>
        </p:nvSpPr>
        <p:spPr>
          <a:xfrm>
            <a:off x="7334250" y="6477000"/>
            <a:ext cx="304800" cy="3048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7203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+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38" name="b-ffn"/>
          <p:cNvSpPr>
            <a:spLocks noGrp="1"/>
          </p:cNvSpPr>
          <p:nvPr/>
        </p:nvSpPr>
        <p:spPr>
          <a:xfrm>
            <a:off x="5715000" y="6572250"/>
            <a:ext cx="1238250" cy="71437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4288">
            <a:solidFill>
              <a:srgbClr val="123A73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FFN</a:t>
            </a:r>
            <a:endParaRPr sz="1350" b="1">
              <a:solidFill>
                <a:srgbClr val="123A73"/>
              </a:solidFill>
            </a:endParaRPr>
          </a:p>
          <a:p>
            <a:pPr algn="ctr"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2-layer MLP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9" name="b-add-2"/>
          <p:cNvSpPr>
            <a:spLocks noGrp="1"/>
          </p:cNvSpPr>
          <p:nvPr/>
        </p:nvSpPr>
        <p:spPr>
          <a:xfrm>
            <a:off x="5095875" y="6762750"/>
            <a:ext cx="304800" cy="3048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72033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+</a:t>
            </a:r>
            <a:endParaRPr sz="1500" b="1">
              <a:solidFill>
                <a:srgbClr val="172033"/>
              </a:solidFill>
            </a:endParaRPr>
          </a:p>
        </p:txBody>
      </p:sp>
      <p:cxnSp>
        <p:nvCxnSpPr>
          <p:cNvPr id="108" name="直接箭头连接符 107"/>
          <p:cNvCxnSpPr>
            <a:stCxn id="32" idx="3"/>
            <a:endCxn id="33" idx="1"/>
          </p:cNvCxnSpPr>
          <p:nvPr/>
        </p:nvCxnSpPr>
        <p:spPr>
          <a:xfrm>
            <a:off x="1362075" y="5514975"/>
            <a:ext cx="352425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09" name="直接箭头连接符 108"/>
          <p:cNvCxnSpPr>
            <a:stCxn id="33" idx="3"/>
            <a:endCxn id="34" idx="1"/>
          </p:cNvCxnSpPr>
          <p:nvPr/>
        </p:nvCxnSpPr>
        <p:spPr>
          <a:xfrm>
            <a:off x="3143250" y="5514975"/>
            <a:ext cx="381000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0" name="直接箭头连接符 109"/>
          <p:cNvCxnSpPr>
            <a:stCxn id="34" idx="3"/>
            <a:endCxn id="35" idx="1"/>
          </p:cNvCxnSpPr>
          <p:nvPr/>
        </p:nvCxnSpPr>
        <p:spPr>
          <a:xfrm>
            <a:off x="4810125" y="5514975"/>
            <a:ext cx="381000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1" name="直接箭头连接符 110"/>
          <p:cNvCxnSpPr>
            <a:stCxn id="35" idx="3"/>
            <a:endCxn id="36" idx="1"/>
          </p:cNvCxnSpPr>
          <p:nvPr/>
        </p:nvCxnSpPr>
        <p:spPr>
          <a:xfrm>
            <a:off x="6572250" y="5514975"/>
            <a:ext cx="381000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2" name="肘形连接符 111"/>
          <p:cNvCxnSpPr>
            <a:stCxn id="36" idx="2"/>
            <a:endCxn id="37" idx="0"/>
          </p:cNvCxnSpPr>
          <p:nvPr/>
        </p:nvCxnSpPr>
        <p:spPr>
          <a:xfrm>
            <a:off x="7343775" y="6076950"/>
            <a:ext cx="142875" cy="400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3" name="直接箭头连接符 112"/>
          <p:cNvCxnSpPr>
            <a:stCxn id="37" idx="2"/>
            <a:endCxn id="38" idx="3"/>
          </p:cNvCxnSpPr>
          <p:nvPr/>
        </p:nvCxnSpPr>
        <p:spPr>
          <a:xfrm flipH="1">
            <a:off x="6953250" y="6629400"/>
            <a:ext cx="381000" cy="300038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4" name="直接箭头连接符 113"/>
          <p:cNvCxnSpPr>
            <a:stCxn id="38" idx="1"/>
            <a:endCxn id="39" idx="6"/>
          </p:cNvCxnSpPr>
          <p:nvPr/>
        </p:nvCxnSpPr>
        <p:spPr>
          <a:xfrm flipH="1" flipV="1">
            <a:off x="5400675" y="6915150"/>
            <a:ext cx="314325" cy="14288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15" name="肘形连接符 114"/>
          <p:cNvCxnSpPr>
            <a:stCxn id="32" idx="2"/>
            <a:endCxn id="37" idx="2"/>
          </p:cNvCxnSpPr>
          <p:nvPr/>
        </p:nvCxnSpPr>
        <p:spPr>
          <a:xfrm>
            <a:off x="814388" y="6096000"/>
            <a:ext cx="6519863" cy="1304925"/>
          </a:xfrm>
          <a:prstGeom prst="bentConnector4">
            <a:avLst/>
          </a:prstGeom>
          <a:ln w="19050">
            <a:solidFill>
              <a:srgbClr val="8C98A8"/>
            </a:solidFill>
            <a:prstDash val="solid"/>
            <a:tailEnd type="arrow" w="med" len="med"/>
          </a:ln>
        </p:spPr>
      </p:cxnSp>
      <p:cxnSp>
        <p:nvCxnSpPr>
          <p:cNvPr id="116" name="肘形连接符 115"/>
          <p:cNvCxnSpPr>
            <a:stCxn id="37" idx="4"/>
            <a:endCxn id="39" idx="4"/>
          </p:cNvCxnSpPr>
          <p:nvPr/>
        </p:nvCxnSpPr>
        <p:spPr>
          <a:xfrm flipH="1">
            <a:off x="5248275" y="6781800"/>
            <a:ext cx="2238375" cy="619125"/>
          </a:xfrm>
          <a:prstGeom prst="bentConnector4">
            <a:avLst/>
          </a:prstGeom>
          <a:ln w="19050">
            <a:solidFill>
              <a:srgbClr val="8C98A8"/>
            </a:solidFill>
            <a:prstDash val="solid"/>
            <a:tailEnd type="arrow" w="med" len="med"/>
          </a:ln>
        </p:spPr>
      </p:cxnSp>
      <p:sp>
        <p:nvSpPr>
          <p:cNvPr id="49" name="b-score"/>
          <p:cNvSpPr>
            <a:spLocks noGrp="1"/>
          </p:cNvSpPr>
          <p:nvPr/>
        </p:nvSpPr>
        <p:spPr>
          <a:xfrm>
            <a:off x="1695450" y="6191250"/>
            <a:ext cx="1524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Score matrix: N × 64</a:t>
            </a:r>
            <a:endParaRPr sz="1275" b="0">
              <a:solidFill>
                <a:srgbClr val="5E6878"/>
              </a:solidFill>
            </a:endParaRPr>
          </a:p>
        </p:txBody>
      </p:sp>
      <p:sp>
        <p:nvSpPr>
          <p:cNvPr id="50" name="b-attn-matrix"/>
          <p:cNvSpPr>
            <a:spLocks noGrp="1"/>
          </p:cNvSpPr>
          <p:nvPr/>
        </p:nvSpPr>
        <p:spPr>
          <a:xfrm>
            <a:off x="4905375" y="619125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Attention matrix: 64 × 64</a:t>
            </a:r>
            <a:endParaRPr sz="1275" b="0">
              <a:solidFill>
                <a:srgbClr val="5E6878"/>
              </a:solidFill>
            </a:endParaRPr>
          </a:p>
        </p:txBody>
      </p:sp>
      <p:sp>
        <p:nvSpPr>
          <p:cNvPr id="52" name="c-xi"/>
          <p:cNvSpPr>
            <a:spLocks noGrp="1"/>
          </p:cNvSpPr>
          <p:nvPr/>
        </p:nvSpPr>
        <p:spPr>
          <a:xfrm>
            <a:off x="8239125" y="49530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E7F7F5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08C86"/>
                </a:solidFill>
              </a:defRPr>
            </a:pPr>
            <a:r>
              <a:rPr sz="1425" b="1">
                <a:solidFill>
                  <a:srgbClr val="008C86"/>
                </a:solidFill>
              </a:rPr>
              <a:t>Node feature</a:t>
            </a:r>
            <a:endParaRPr sz="1425" b="1">
              <a:solidFill>
                <a:srgbClr val="008C86"/>
              </a:solidFill>
            </a:endParaRPr>
          </a:p>
          <a:p>
            <a:pPr algn="ctr">
              <a:defRPr sz="1425" b="1">
                <a:solidFill>
                  <a:srgbClr val="008C86"/>
                </a:solidFill>
              </a:defRPr>
            </a:pPr>
            <a:r>
              <a:rPr sz="1425" b="1">
                <a:solidFill>
                  <a:srgbClr val="008C86"/>
                </a:solidFill>
              </a:rPr>
              <a:t>xᵢ ∈ ℝ⁶⁴</a:t>
            </a:r>
            <a:endParaRPr sz="1425" b="1">
              <a:solidFill>
                <a:srgbClr val="008C86"/>
              </a:solidFill>
            </a:endParaRPr>
          </a:p>
        </p:txBody>
      </p:sp>
      <p:sp>
        <p:nvSpPr>
          <p:cNvPr id="53" name="c-neighbor"/>
          <p:cNvSpPr>
            <a:spLocks noGrp="1"/>
          </p:cNvSpPr>
          <p:nvPr/>
        </p:nvSpPr>
        <p:spPr>
          <a:xfrm>
            <a:off x="8239125" y="6238875"/>
            <a:ext cx="1619250" cy="838200"/>
          </a:xfrm>
          <a:prstGeom prst="roundRect">
            <a:avLst>
              <a:gd name="adj" fmla="val 9091"/>
            </a:avLst>
          </a:prstGeom>
          <a:solidFill>
            <a:srgbClr val="E7F7F5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Mean of 12-NN</a:t>
            </a:r>
            <a:endParaRPr sz="1350" b="1">
              <a:solidFill>
                <a:srgbClr val="008C86"/>
              </a:solidFill>
            </a:endParaRPr>
          </a:p>
          <a:p>
            <a:pPr algn="ctr"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neighbors</a:t>
            </a:r>
            <a:endParaRPr sz="1350" b="1">
              <a:solidFill>
                <a:srgbClr val="008C86"/>
              </a:solidFill>
            </a:endParaRPr>
          </a:p>
          <a:p>
            <a:pPr algn="ctr"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x̄ᵢ ∈ ℝ⁶⁴</a:t>
            </a:r>
            <a:endParaRPr sz="1350" b="1">
              <a:solidFill>
                <a:srgbClr val="008C86"/>
              </a:solidFill>
            </a:endParaRPr>
          </a:p>
        </p:txBody>
      </p:sp>
      <p:sp>
        <p:nvSpPr>
          <p:cNvPr id="54" name="c-concat"/>
          <p:cNvSpPr>
            <a:spLocks noGrp="1"/>
          </p:cNvSpPr>
          <p:nvPr/>
        </p:nvSpPr>
        <p:spPr>
          <a:xfrm>
            <a:off x="10287000" y="5381625"/>
            <a:ext cx="1381125" cy="1047750"/>
          </a:xfrm>
          <a:prstGeom prst="roundRect">
            <a:avLst>
              <a:gd name="adj" fmla="val 7273"/>
            </a:avLst>
          </a:prstGeom>
          <a:solidFill>
            <a:srgbClr val="E7F7F5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Concatenate</a:t>
            </a:r>
            <a:endParaRPr sz="1350" b="1">
              <a:solidFill>
                <a:srgbClr val="172033"/>
              </a:solidFill>
            </a:endParaRPr>
          </a:p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128 dimensions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55" name="c-mlp"/>
          <p:cNvSpPr>
            <a:spLocks noGrp="1"/>
          </p:cNvSpPr>
          <p:nvPr/>
        </p:nvSpPr>
        <p:spPr>
          <a:xfrm>
            <a:off x="12049125" y="5381625"/>
            <a:ext cx="13811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008C86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LayerNorm</a:t>
            </a:r>
            <a:endParaRPr sz="1425" b="1">
              <a:solidFill>
                <a:srgbClr val="172033"/>
              </a:solidFill>
            </a:endParaRPr>
          </a:p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+</a:t>
            </a:r>
            <a:endParaRPr sz="1425" b="1">
              <a:solidFill>
                <a:srgbClr val="172033"/>
              </a:solidFill>
            </a:endParaRPr>
          </a:p>
          <a:p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MLP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56" name="c-gate"/>
          <p:cNvSpPr>
            <a:spLocks noGrp="1"/>
          </p:cNvSpPr>
          <p:nvPr/>
        </p:nvSpPr>
        <p:spPr>
          <a:xfrm>
            <a:off x="13858875" y="5715000"/>
            <a:ext cx="495300" cy="4953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26922"/>
            </a:solidFill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26922"/>
                </a:solidFill>
              </a:defRPr>
            </a:pPr>
            <a:r>
              <a:rPr sz="1950" b="1">
                <a:solidFill>
                  <a:srgbClr val="F26922"/>
                </a:solidFill>
              </a:rPr>
              <a:t>×</a:t>
            </a:r>
            <a:endParaRPr sz="1950" b="1">
              <a:solidFill>
                <a:srgbClr val="F26922"/>
              </a:solidFill>
            </a:endParaRPr>
          </a:p>
        </p:txBody>
      </p:sp>
      <p:sp>
        <p:nvSpPr>
          <p:cNvPr id="57" name="c-add"/>
          <p:cNvSpPr>
            <a:spLocks noGrp="1"/>
          </p:cNvSpPr>
          <p:nvPr/>
        </p:nvSpPr>
        <p:spPr>
          <a:xfrm>
            <a:off x="14573250" y="5715000"/>
            <a:ext cx="400050" cy="4000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72033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cxnSp>
        <p:nvCxnSpPr>
          <p:cNvPr id="126" name="直接箭头连接符 125"/>
          <p:cNvCxnSpPr>
            <a:stCxn id="52" idx="3"/>
            <a:endCxn id="54" idx="1"/>
          </p:cNvCxnSpPr>
          <p:nvPr/>
        </p:nvCxnSpPr>
        <p:spPr>
          <a:xfrm>
            <a:off x="9858375" y="5334000"/>
            <a:ext cx="428625" cy="57150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27" name="直接箭头连接符 126"/>
          <p:cNvCxnSpPr>
            <a:stCxn id="53" idx="3"/>
            <a:endCxn id="54" idx="1"/>
          </p:cNvCxnSpPr>
          <p:nvPr/>
        </p:nvCxnSpPr>
        <p:spPr>
          <a:xfrm flipV="1">
            <a:off x="9858375" y="5905500"/>
            <a:ext cx="428625" cy="75247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28" name="直接箭头连接符 127"/>
          <p:cNvCxnSpPr>
            <a:stCxn id="54" idx="3"/>
            <a:endCxn id="55" idx="1"/>
          </p:cNvCxnSpPr>
          <p:nvPr/>
        </p:nvCxnSpPr>
        <p:spPr>
          <a:xfrm>
            <a:off x="11668125" y="5905500"/>
            <a:ext cx="381000" cy="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29" name="直接箭头连接符 128"/>
          <p:cNvCxnSpPr>
            <a:stCxn id="55" idx="3"/>
            <a:endCxn id="56" idx="2"/>
          </p:cNvCxnSpPr>
          <p:nvPr/>
        </p:nvCxnSpPr>
        <p:spPr>
          <a:xfrm>
            <a:off x="13430250" y="5905500"/>
            <a:ext cx="428625" cy="57150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30" name="直接箭头连接符 129"/>
          <p:cNvCxnSpPr>
            <a:stCxn id="56" idx="6"/>
            <a:endCxn id="57" idx="2"/>
          </p:cNvCxnSpPr>
          <p:nvPr/>
        </p:nvCxnSpPr>
        <p:spPr>
          <a:xfrm flipV="1">
            <a:off x="14354175" y="5915025"/>
            <a:ext cx="219075" cy="47625"/>
          </a:xfrm>
          <a:prstGeom prst="straightConnector1">
            <a:avLst/>
          </a:prstGeom>
          <a:ln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31" name="肘形连接符 130"/>
          <p:cNvCxnSpPr>
            <a:stCxn id="52" idx="2"/>
            <a:endCxn id="57" idx="4"/>
          </p:cNvCxnSpPr>
          <p:nvPr/>
        </p:nvCxnSpPr>
        <p:spPr>
          <a:xfrm>
            <a:off x="9048750" y="5715000"/>
            <a:ext cx="5724525" cy="828675"/>
          </a:xfrm>
          <a:prstGeom prst="bentConnector4">
            <a:avLst/>
          </a:prstGeom>
          <a:ln w="19050">
            <a:solidFill>
              <a:srgbClr val="8C98A8"/>
            </a:solidFill>
            <a:prstDash val="solid"/>
            <a:tailEnd type="arrow" w="med" len="med"/>
          </a:ln>
        </p:spPr>
      </p:cxnSp>
      <p:sp>
        <p:nvSpPr>
          <p:cNvPr id="64" name="c-gate-label"/>
          <p:cNvSpPr>
            <a:spLocks noGrp="1"/>
          </p:cNvSpPr>
          <p:nvPr/>
        </p:nvSpPr>
        <p:spPr>
          <a:xfrm>
            <a:off x="13287375" y="4762500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26922"/>
                </a:solidFill>
              </a:defRPr>
            </a:pPr>
            <a:r>
              <a:rPr sz="1425" b="1">
                <a:solidFill>
                  <a:srgbClr val="F26922"/>
                </a:solidFill>
              </a:rPr>
              <a:t>Gate: tanh(α)</a:t>
            </a:r>
            <a:endParaRPr sz="1425" b="1">
              <a:solidFill>
                <a:srgbClr val="F26922"/>
              </a:solidFill>
            </a:endParaRPr>
          </a:p>
          <a:p>
            <a:pPr algn="ctr">
              <a:defRPr sz="1425" b="1">
                <a:solidFill>
                  <a:srgbClr val="F26922"/>
                </a:solidFill>
              </a:defRPr>
            </a:pPr>
            <a:r>
              <a:rPr sz="1425" b="1">
                <a:solidFill>
                  <a:srgbClr val="F26922"/>
                </a:solidFill>
              </a:rPr>
              <a:t>α initialized to 0</a:t>
            </a:r>
            <a:endParaRPr sz="1425" b="1">
              <a:solidFill>
                <a:srgbClr val="F26922"/>
              </a:solidFill>
            </a:endParaRPr>
          </a:p>
        </p:txBody>
      </p:sp>
      <p:sp>
        <p:nvSpPr>
          <p:cNvPr id="65" name="c-gate-anchor"/>
          <p:cNvSpPr>
            <a:spLocks noGrp="1"/>
          </p:cNvSpPr>
          <p:nvPr/>
        </p:nvSpPr>
        <p:spPr>
          <a:xfrm>
            <a:off x="13982700" y="5334000"/>
            <a:ext cx="190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/>
        </p:txBody>
      </p:sp>
      <p:cxnSp>
        <p:nvCxnSpPr>
          <p:cNvPr id="134" name="直接箭头连接符 133"/>
          <p:cNvCxnSpPr>
            <a:stCxn id="65" idx="2"/>
            <a:endCxn id="56" idx="0"/>
          </p:cNvCxnSpPr>
          <p:nvPr/>
        </p:nvCxnSpPr>
        <p:spPr>
          <a:xfrm>
            <a:off x="14077950" y="5448300"/>
            <a:ext cx="28575" cy="266700"/>
          </a:xfrm>
          <a:prstGeom prst="straightConnector1">
            <a:avLst/>
          </a:prstGeom>
          <a:ln w="19050">
            <a:solidFill>
              <a:srgbClr val="F26922"/>
            </a:solidFill>
            <a:prstDash val="solid"/>
            <a:tailEnd type="arrow" w="med" len="med"/>
          </a:ln>
        </p:spPr>
      </p:cxnSp>
      <p:sp>
        <p:nvSpPr>
          <p:cNvPr id="67" name="c-output-label"/>
          <p:cNvSpPr>
            <a:spLocks noGrp="1"/>
          </p:cNvSpPr>
          <p:nvPr/>
        </p:nvSpPr>
        <p:spPr>
          <a:xfrm>
            <a:off x="13239750" y="67627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Add gated local correction</a:t>
            </a:r>
            <a:endParaRPr sz="1350" b="1">
              <a:solidFill>
                <a:srgbClr val="172033"/>
              </a:solidFill>
            </a:endParaRPr>
          </a:p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to backbone output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68" name="legend"/>
          <p:cNvSpPr>
            <a:spLocks noGrp="1"/>
          </p:cNvSpPr>
          <p:nvPr/>
        </p:nvSpPr>
        <p:spPr>
          <a:xfrm>
            <a:off x="8191500" y="7524750"/>
            <a:ext cx="6572250" cy="495300"/>
          </a:xfrm>
          <a:prstGeom prst="rect">
            <a:avLst/>
          </a:prstGeom>
          <a:solidFill>
            <a:srgbClr val="F8FAFC"/>
          </a:solidFill>
          <a:ln w="14288">
            <a:solidFill>
              <a:srgbClr val="8C98A8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NAVY  Physics-token global pathway     TEAL  Local KNN pathway     ORANGE  Zero-init gate     ⊕  Residual addition</a:t>
            </a:r>
            <a:endParaRPr sz="1200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WPS 演示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MS PGothic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逐鹿中原</cp:lastModifiedBy>
  <cp:revision>1</cp:revision>
  <dcterms:created xsi:type="dcterms:W3CDTF">2026-08-26T08:14:40Z</dcterms:created>
  <dcterms:modified xsi:type="dcterms:W3CDTF">2026-08-26T08:14:40Z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8A21FD8EA06A40909AE9129CC6586DB5_12</vt:lpwstr>
  </property>
</Properties>
</file>